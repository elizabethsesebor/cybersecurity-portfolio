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
  </p:notesMasterIdLst>
  <p:handoutMasterIdLst>
    <p:handoutMasterId r:id="rId25"/>
  </p:handoutMasterIdLst>
  <p:sldIdLst>
    <p:sldId id="281" r:id="rId5"/>
    <p:sldId id="284" r:id="rId6"/>
    <p:sldId id="261" r:id="rId7"/>
    <p:sldId id="278" r:id="rId8"/>
    <p:sldId id="273" r:id="rId9"/>
    <p:sldId id="279" r:id="rId10"/>
    <p:sldId id="300" r:id="rId11"/>
    <p:sldId id="293" r:id="rId12"/>
    <p:sldId id="301" r:id="rId13"/>
    <p:sldId id="294" r:id="rId14"/>
    <p:sldId id="265" r:id="rId15"/>
    <p:sldId id="295" r:id="rId16"/>
    <p:sldId id="302" r:id="rId17"/>
    <p:sldId id="296" r:id="rId18"/>
    <p:sldId id="303" r:id="rId19"/>
    <p:sldId id="297" r:id="rId20"/>
    <p:sldId id="277" r:id="rId21"/>
    <p:sldId id="299" r:id="rId22"/>
    <p:sldId id="28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82" d="100"/>
          <a:sy n="82" d="100"/>
        </p:scale>
        <p:origin x="720" y="72"/>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12/10/2025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854501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3155431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A2D04-0576-503D-7B5D-3C3A02257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00F42-A83E-B52A-72CC-D700001F18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63D269-99BA-9815-0AD0-DDB6D1C324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7715D4-5223-0C4B-F7BB-F52EEE8AFE38}"/>
              </a:ext>
            </a:extLst>
          </p:cNvPr>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656590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5B3B8-3370-157A-AE8C-53AFDC2C6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731E73-4968-C47C-4B2C-FB6F2325B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BC249-A8F1-3ABA-2773-1731D49CD1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1352D0-5792-D317-71C2-AB9AE80D8176}"/>
              </a:ext>
            </a:extLst>
          </p:cNvPr>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2250807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6CFE5-C706-DD3C-1B13-35308FA6C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E6FE1B-0F2F-CC35-2665-6CA4027EF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32360-3533-3566-D565-BC9187037F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833785-6E44-B80E-F19F-3E4E9A38D7AF}"/>
              </a:ext>
            </a:extLst>
          </p:cNvPr>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2902212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5CE42-F679-3F7B-5816-A4BB6F2D93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0BC5B-C582-DA9A-B5AE-A6DE83137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0C519-94C8-DBDE-9584-C0B8D97F35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E999B7-90D0-AE25-7CA9-EB2697A4DEA9}"/>
              </a:ext>
            </a:extLst>
          </p:cNvPr>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532271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1015613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59A14-88B9-2805-538D-3CEB46721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B35C80-1E07-ABFC-7BDC-2DEAC30F60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0B90F6-CD44-9A44-EA77-982F3BABE5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D23498-D7D4-AB98-743F-6AD9DC833E58}"/>
              </a:ext>
            </a:extLst>
          </p:cNvPr>
          <p:cNvSpPr>
            <a:spLocks noGrp="1"/>
          </p:cNvSpPr>
          <p:nvPr>
            <p:ph type="sldNum" sz="quarter" idx="5"/>
          </p:nvPr>
        </p:nvSpPr>
        <p:spPr/>
        <p:txBody>
          <a:bodyPr/>
          <a:lstStyle/>
          <a:p>
            <a:fld id="{55247812-3409-784D-BAE7-ABE53735D59F}" type="slidenum">
              <a:rPr lang="en-US" smtClean="0"/>
              <a:t>12</a:t>
            </a:fld>
            <a:endParaRPr lang="en-US"/>
          </a:p>
        </p:txBody>
      </p:sp>
    </p:spTree>
    <p:extLst>
      <p:ext uri="{BB962C8B-B14F-4D97-AF65-F5344CB8AC3E}">
        <p14:creationId xmlns:p14="http://schemas.microsoft.com/office/powerpoint/2010/main" val="4158979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63C36-1C42-B800-13C3-AD29CCA7FA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E54C19-D3C3-C083-58ED-1EF73D61E8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E288A4-CA7D-B590-25C4-E1EAF3E0E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8FA9B6-E13B-F6E5-0906-302F94F6607C}"/>
              </a:ext>
            </a:extLst>
          </p:cNvPr>
          <p:cNvSpPr>
            <a:spLocks noGrp="1"/>
          </p:cNvSpPr>
          <p:nvPr>
            <p:ph type="sldNum" sz="quarter" idx="5"/>
          </p:nvPr>
        </p:nvSpPr>
        <p:spPr/>
        <p:txBody>
          <a:bodyPr/>
          <a:lstStyle/>
          <a:p>
            <a:fld id="{55247812-3409-784D-BAE7-ABE53735D59F}" type="slidenum">
              <a:rPr lang="en-US" smtClean="0"/>
              <a:t>13</a:t>
            </a:fld>
            <a:endParaRPr lang="en-US"/>
          </a:p>
        </p:txBody>
      </p:sp>
    </p:spTree>
    <p:extLst>
      <p:ext uri="{BB962C8B-B14F-4D97-AF65-F5344CB8AC3E}">
        <p14:creationId xmlns:p14="http://schemas.microsoft.com/office/powerpoint/2010/main" val="4152735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FE677-5B79-125E-AA5C-A6C6E73E9A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2B38E-553F-807E-B7A3-737D8B0010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5597C3-67DB-5929-0BF9-3681A85045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607A42-02A6-025A-AC0E-54A0118ECF3F}"/>
              </a:ext>
            </a:extLst>
          </p:cNvPr>
          <p:cNvSpPr>
            <a:spLocks noGrp="1"/>
          </p:cNvSpPr>
          <p:nvPr>
            <p:ph type="sldNum" sz="quarter" idx="5"/>
          </p:nvPr>
        </p:nvSpPr>
        <p:spPr/>
        <p:txBody>
          <a:bodyPr/>
          <a:lstStyle/>
          <a:p>
            <a:fld id="{55247812-3409-784D-BAE7-ABE53735D59F}" type="slidenum">
              <a:rPr lang="en-US" smtClean="0"/>
              <a:t>14</a:t>
            </a:fld>
            <a:endParaRPr lang="en-US"/>
          </a:p>
        </p:txBody>
      </p:sp>
    </p:spTree>
    <p:extLst>
      <p:ext uri="{BB962C8B-B14F-4D97-AF65-F5344CB8AC3E}">
        <p14:creationId xmlns:p14="http://schemas.microsoft.com/office/powerpoint/2010/main" val="29270240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D36D3-F794-5D05-B5E3-CF546405C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0A097-9D25-9F69-EF7A-0E13C7935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EA24D3-DF2D-5DB1-5ADE-BBF8BFAAED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B9BF1D-CE15-881B-F50B-655DD48966BF}"/>
              </a:ext>
            </a:extLst>
          </p:cNvPr>
          <p:cNvSpPr>
            <a:spLocks noGrp="1"/>
          </p:cNvSpPr>
          <p:nvPr>
            <p:ph type="sldNum" sz="quarter" idx="5"/>
          </p:nvPr>
        </p:nvSpPr>
        <p:spPr/>
        <p:txBody>
          <a:bodyPr/>
          <a:lstStyle/>
          <a:p>
            <a:fld id="{55247812-3409-784D-BAE7-ABE53735D59F}" type="slidenum">
              <a:rPr lang="en-US" smtClean="0"/>
              <a:t>15</a:t>
            </a:fld>
            <a:endParaRPr lang="en-US"/>
          </a:p>
        </p:txBody>
      </p:sp>
    </p:spTree>
    <p:extLst>
      <p:ext uri="{BB962C8B-B14F-4D97-AF65-F5344CB8AC3E}">
        <p14:creationId xmlns:p14="http://schemas.microsoft.com/office/powerpoint/2010/main" val="3323964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D1461-BECA-0510-0DAB-916E4E4D0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09919F-C627-0E82-8F73-361B98B79D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853537-0A3D-4BE1-E5F6-36B5199582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969E51-B798-0BA5-8400-4F29ABB31DC0}"/>
              </a:ext>
            </a:extLst>
          </p:cNvPr>
          <p:cNvSpPr>
            <a:spLocks noGrp="1"/>
          </p:cNvSpPr>
          <p:nvPr>
            <p:ph type="sldNum" sz="quarter" idx="5"/>
          </p:nvPr>
        </p:nvSpPr>
        <p:spPr/>
        <p:txBody>
          <a:bodyPr/>
          <a:lstStyle/>
          <a:p>
            <a:fld id="{55247812-3409-784D-BAE7-ABE53735D59F}" type="slidenum">
              <a:rPr lang="en-US" smtClean="0"/>
              <a:t>16</a:t>
            </a:fld>
            <a:endParaRPr lang="en-US"/>
          </a:p>
        </p:txBody>
      </p:sp>
    </p:spTree>
    <p:extLst>
      <p:ext uri="{BB962C8B-B14F-4D97-AF65-F5344CB8AC3E}">
        <p14:creationId xmlns:p14="http://schemas.microsoft.com/office/powerpoint/2010/main" val="1131793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17</a:t>
            </a:fld>
            <a:endParaRPr lang="en-US"/>
          </a:p>
        </p:txBody>
      </p:sp>
    </p:spTree>
    <p:extLst>
      <p:ext uri="{BB962C8B-B14F-4D97-AF65-F5344CB8AC3E}">
        <p14:creationId xmlns:p14="http://schemas.microsoft.com/office/powerpoint/2010/main" val="1718631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35586-FC76-343C-BC9F-A35D5E7D45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78F5AC-F1A6-01C7-3FAC-C70808200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52EBC-498C-2A51-6151-88E0AA9DBF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CC3BC1-6449-72F8-6E1A-87621FD31034}"/>
              </a:ext>
            </a:extLst>
          </p:cNvPr>
          <p:cNvSpPr>
            <a:spLocks noGrp="1"/>
          </p:cNvSpPr>
          <p:nvPr>
            <p:ph type="sldNum" sz="quarter" idx="5"/>
          </p:nvPr>
        </p:nvSpPr>
        <p:spPr/>
        <p:txBody>
          <a:bodyPr/>
          <a:lstStyle/>
          <a:p>
            <a:fld id="{55247812-3409-784D-BAE7-ABE53735D59F}" type="slidenum">
              <a:rPr lang="en-US" smtClean="0"/>
              <a:t>18</a:t>
            </a:fld>
            <a:endParaRPr lang="en-US"/>
          </a:p>
        </p:txBody>
      </p:sp>
    </p:spTree>
    <p:extLst>
      <p:ext uri="{BB962C8B-B14F-4D97-AF65-F5344CB8AC3E}">
        <p14:creationId xmlns:p14="http://schemas.microsoft.com/office/powerpoint/2010/main" val="622337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12/10/2025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12/10/2025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12/10/2025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12/10/2025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12/10/2025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12/10/2025</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https://creativecommons.org/licenses/by-nc-sa/3.0/" TargetMode="External"/><Relationship Id="rId4" Type="http://schemas.openxmlformats.org/officeDocument/2006/relationships/hyperlink" Target="https://www.hackerwebsecurity.com/differenza-tra-phishing-spear-phishing-e-watering-hole/phishin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hyperlink" Target="https://www.privateinternetaccess.com/blog/how-to-purify-your-device-after-clicking-a-phishing-link/"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hyperlink" Target="http://www.wikibit.it/p/cosa-significa-phishing-642/" TargetMode="Externa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mailto:ms7148160@gmail.com"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a:blip r:embed="rId2">
            <a:alphaModFix amt="52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458686" y="587828"/>
            <a:ext cx="9144000" cy="2286000"/>
          </a:xfrm>
        </p:spPr>
        <p:txBody>
          <a:bodyPr/>
          <a:lstStyle/>
          <a:p>
            <a:r>
              <a:rPr lang="en-US" b="1" dirty="0"/>
              <a:t>PHISHING EMAIL ANALYSIS</a:t>
            </a:r>
          </a:p>
        </p:txBody>
      </p:sp>
      <p:sp>
        <p:nvSpPr>
          <p:cNvPr id="2" name="Title 5">
            <a:extLst>
              <a:ext uri="{FF2B5EF4-FFF2-40B4-BE49-F238E27FC236}">
                <a16:creationId xmlns:a16="http://schemas.microsoft.com/office/drawing/2014/main" id="{60D8964B-C3DD-1C4D-4087-C832B1581653}"/>
              </a:ext>
            </a:extLst>
          </p:cNvPr>
          <p:cNvSpPr txBox="1">
            <a:spLocks/>
          </p:cNvSpPr>
          <p:nvPr/>
        </p:nvSpPr>
        <p:spPr>
          <a:xfrm>
            <a:off x="870155" y="4768646"/>
            <a:ext cx="9144000" cy="2286000"/>
          </a:xfrm>
          <a:prstGeom prst="rect">
            <a:avLst/>
          </a:prstGeom>
        </p:spPr>
        <p:txBody>
          <a:bodyPr vert="horz" lIns="91440" tIns="45720" rIns="91440" bIns="45720" rtlCol="0" anchor="ctr" anchorCtr="0">
            <a:noAutofit/>
          </a:bodyPr>
          <a:lstStyle>
            <a:lvl1pPr algn="ctr" defTabSz="914400" rtl="0" eaLnBrk="1" latinLnBrk="0" hangingPunct="1">
              <a:lnSpc>
                <a:spcPct val="90000"/>
              </a:lnSpc>
              <a:spcBef>
                <a:spcPct val="0"/>
              </a:spcBef>
              <a:buNone/>
              <a:defRPr sz="4800" kern="1200" cap="all" spc="300" baseline="0">
                <a:solidFill>
                  <a:schemeClr val="bg1"/>
                </a:solidFill>
                <a:latin typeface="+mj-lt"/>
                <a:ea typeface="+mj-ea"/>
                <a:cs typeface="+mj-cs"/>
              </a:defRPr>
            </a:lvl1pPr>
          </a:lstStyle>
          <a:p>
            <a:pPr algn="l"/>
            <a:r>
              <a:rPr lang="en-US" sz="2000" b="1" dirty="0"/>
              <a:t>By: Elizabeth Sesebor</a:t>
            </a:r>
          </a:p>
          <a:p>
            <a:pPr algn="l"/>
            <a:r>
              <a:rPr lang="en-US" sz="2000" b="1" dirty="0"/>
              <a:t>Date: 4</a:t>
            </a:r>
            <a:r>
              <a:rPr lang="en-US" sz="2000" b="1" baseline="30000" dirty="0"/>
              <a:t>th</a:t>
            </a:r>
            <a:r>
              <a:rPr lang="en-US" sz="2000" b="1" dirty="0"/>
              <a:t> Dec. 2025</a:t>
            </a:r>
          </a:p>
        </p:txBody>
      </p:sp>
      <p:sp>
        <p:nvSpPr>
          <p:cNvPr id="3" name="Title 2">
            <a:extLst>
              <a:ext uri="{FF2B5EF4-FFF2-40B4-BE49-F238E27FC236}">
                <a16:creationId xmlns:a16="http://schemas.microsoft.com/office/drawing/2014/main" id="{F9BE1B6C-E125-F35F-1CE9-DD26C3ACBED8}"/>
              </a:ext>
            </a:extLst>
          </p:cNvPr>
          <p:cNvSpPr txBox="1">
            <a:spLocks/>
          </p:cNvSpPr>
          <p:nvPr/>
        </p:nvSpPr>
        <p:spPr>
          <a:xfrm>
            <a:off x="1524000" y="2286000"/>
            <a:ext cx="9144000" cy="2286000"/>
          </a:xfrm>
          <a:prstGeom prst="rect">
            <a:avLst/>
          </a:prstGeom>
        </p:spPr>
        <p:txBody>
          <a:bodyPr vert="horz" lIns="91440" tIns="45720" rIns="91440" bIns="45720" rtlCol="0" anchor="ctr" anchorCtr="0">
            <a:noAutofit/>
          </a:bodyPr>
          <a:lstStyle>
            <a:lvl1pPr algn="ctr" defTabSz="914400" rtl="0" eaLnBrk="1" latinLnBrk="0" hangingPunct="1">
              <a:lnSpc>
                <a:spcPct val="90000"/>
              </a:lnSpc>
              <a:spcBef>
                <a:spcPct val="0"/>
              </a:spcBef>
              <a:buNone/>
              <a:defRPr sz="4800" kern="1200" cap="all" spc="300" baseline="0">
                <a:solidFill>
                  <a:schemeClr val="bg1"/>
                </a:solidFill>
                <a:latin typeface="+mj-lt"/>
                <a:ea typeface="+mj-ea"/>
                <a:cs typeface="+mj-cs"/>
              </a:defRPr>
            </a:lvl1pPr>
          </a:lstStyle>
          <a:p>
            <a:r>
              <a:rPr lang="en-US" sz="3600" b="1" dirty="0"/>
              <a:t>CASE STUDY</a:t>
            </a:r>
            <a:r>
              <a:rPr lang="en-US" b="1" dirty="0"/>
              <a:t>:</a:t>
            </a:r>
            <a:br>
              <a:rPr lang="en-US" b="1" dirty="0"/>
            </a:br>
            <a:r>
              <a:rPr lang="en-US" b="1" dirty="0"/>
              <a:t> </a:t>
            </a:r>
            <a:r>
              <a:rPr lang="en-US" sz="2800" b="1" dirty="0"/>
              <a:t>MALICIOUS EMAIL RECEIVED DIRECTLY IN MY PERSONAL GMAIL</a:t>
            </a:r>
          </a:p>
        </p:txBody>
      </p:sp>
      <p:sp>
        <p:nvSpPr>
          <p:cNvPr id="5" name="TextBox 4">
            <a:extLst>
              <a:ext uri="{FF2B5EF4-FFF2-40B4-BE49-F238E27FC236}">
                <a16:creationId xmlns:a16="http://schemas.microsoft.com/office/drawing/2014/main" id="{8EE3B2E4-7C81-E861-9EB7-496C9E162551}"/>
              </a:ext>
            </a:extLst>
          </p:cNvPr>
          <p:cNvSpPr txBox="1"/>
          <p:nvPr/>
        </p:nvSpPr>
        <p:spPr>
          <a:xfrm>
            <a:off x="0" y="6858000"/>
            <a:ext cx="12192000" cy="230832"/>
          </a:xfrm>
          <a:prstGeom prst="rect">
            <a:avLst/>
          </a:prstGeom>
          <a:noFill/>
        </p:spPr>
        <p:txBody>
          <a:bodyPr wrap="square" rtlCol="0">
            <a:spAutoFit/>
          </a:bodyPr>
          <a:lstStyle/>
          <a:p>
            <a:r>
              <a:rPr lang="en-US" sz="900">
                <a:hlinkClick r:id="rId4" tooltip="https://www.hackerwebsecurity.com/differenza-tra-phishing-spear-phishing-e-watering-hole/phishing/"/>
              </a:rPr>
              <a:t>This Photo</a:t>
            </a:r>
            <a:r>
              <a:rPr lang="en-US" sz="900"/>
              <a:t> by Unknown Author is licensed under </a:t>
            </a:r>
            <a:r>
              <a:rPr lang="en-US" sz="900">
                <a:hlinkClick r:id="rId5" tooltip="https://creativecommons.org/licenses/by-nc-sa/3.0/"/>
              </a:rPr>
              <a:t>CC BY-SA-NC</a:t>
            </a:r>
            <a:endParaRPr lang="en-US" sz="900"/>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838200" y="365760"/>
            <a:ext cx="10515600" cy="1325880"/>
          </a:xfrm>
        </p:spPr>
        <p:txBody>
          <a:bodyPr anchor="ctr">
            <a:normAutofit/>
          </a:bodyPr>
          <a:lstStyle/>
          <a:p>
            <a:r>
              <a:rPr lang="en-US" dirty="0"/>
              <a:t>Content</a:t>
            </a:r>
          </a:p>
        </p:txBody>
      </p:sp>
      <p:pic>
        <p:nvPicPr>
          <p:cNvPr id="15" name="Picture Placeholder 14" descr="A fishing hook on a credit card&#10;&#10;AI-generated content may be incorrect.">
            <a:extLst>
              <a:ext uri="{FF2B5EF4-FFF2-40B4-BE49-F238E27FC236}">
                <a16:creationId xmlns:a16="http://schemas.microsoft.com/office/drawing/2014/main" id="{E4DF753A-3575-A0D9-5135-8A94308DC038}"/>
              </a:ext>
            </a:extLst>
          </p:cNvPr>
          <p:cNvPicPr>
            <a:picLocks noGrp="1" noChangeAspect="1"/>
          </p:cNvPicPr>
          <p:nvPr>
            <p:ph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6930" r="16930" b="1"/>
          <a:stretch>
            <a:fillRect/>
          </a:stretch>
        </p:blipFill>
        <p:spPr>
          <a:xfrm>
            <a:off x="883921" y="1436952"/>
            <a:ext cx="5212079" cy="4137189"/>
          </a:xfrm>
          <a:noFill/>
        </p:spPr>
      </p:pic>
      <p:sp>
        <p:nvSpPr>
          <p:cNvPr id="3" name="Content Placeholder 2">
            <a:extLst>
              <a:ext uri="{FF2B5EF4-FFF2-40B4-BE49-F238E27FC236}">
                <a16:creationId xmlns:a16="http://schemas.microsoft.com/office/drawing/2014/main" id="{992EC4A8-49EE-CF82-CFDC-BA9308ED0D65}"/>
              </a:ext>
            </a:extLst>
          </p:cNvPr>
          <p:cNvSpPr>
            <a:spLocks noGrp="1"/>
          </p:cNvSpPr>
          <p:nvPr>
            <p:ph sz="quarter" idx="14"/>
          </p:nvPr>
        </p:nvSpPr>
        <p:spPr>
          <a:xfrm>
            <a:off x="6459795" y="2024780"/>
            <a:ext cx="4894006" cy="4137189"/>
          </a:xfrm>
        </p:spPr>
        <p:txBody>
          <a:bodyPr>
            <a:normAutofit/>
          </a:bodyPr>
          <a:lstStyle/>
          <a:p>
            <a:pPr marL="285750" indent="-285750">
              <a:buFont typeface="Wingdings" panose="05000000000000000000" pitchFamily="2" charset="2"/>
              <a:buChar char="Ø"/>
            </a:pPr>
            <a:r>
              <a:rPr lang="en-US"/>
              <a:t>Understanding phishing in organizations</a:t>
            </a:r>
          </a:p>
          <a:p>
            <a:pPr marL="285750" indent="-285750">
              <a:buFont typeface="Wingdings" panose="05000000000000000000" pitchFamily="2" charset="2"/>
              <a:buChar char="Ø"/>
            </a:pPr>
            <a:r>
              <a:rPr lang="en-US"/>
              <a:t>Spotting a spoofed email</a:t>
            </a:r>
          </a:p>
          <a:p>
            <a:pPr marL="285750" indent="-285750">
              <a:buFont typeface="Wingdings" panose="05000000000000000000" pitchFamily="2" charset="2"/>
              <a:buChar char="Ø"/>
            </a:pPr>
            <a:r>
              <a:rPr lang="en-US"/>
              <a:t>Analyzing suspicious </a:t>
            </a:r>
            <a:r>
              <a:rPr lang="en-US" err="1"/>
              <a:t>urlS</a:t>
            </a:r>
            <a:endParaRPr lang="en-US"/>
          </a:p>
          <a:p>
            <a:pPr marL="285750" indent="-285750">
              <a:buFont typeface="Wingdings" panose="05000000000000000000" pitchFamily="2" charset="2"/>
              <a:buChar char="Ø"/>
            </a:pPr>
            <a:r>
              <a:rPr lang="en-US"/>
              <a:t>Investigating email headers</a:t>
            </a:r>
          </a:p>
          <a:p>
            <a:pPr marL="285750" indent="-285750">
              <a:buFont typeface="Wingdings" panose="05000000000000000000" pitchFamily="2" charset="2"/>
              <a:buChar char="Ø"/>
            </a:pPr>
            <a:r>
              <a:rPr lang="en-US"/>
              <a:t>Leveraging email security/filtering tools</a:t>
            </a:r>
          </a:p>
          <a:p>
            <a:pPr marL="285750" indent="-285750">
              <a:buFont typeface="Wingdings" panose="05000000000000000000" pitchFamily="2" charset="2"/>
              <a:buChar char="Ø"/>
            </a:pPr>
            <a:r>
              <a:rPr lang="en-US"/>
              <a:t>Remediation strategies</a:t>
            </a:r>
          </a:p>
          <a:p>
            <a:pPr marL="285750" indent="-285750">
              <a:buFont typeface="Wingdings" panose="05000000000000000000" pitchFamily="2" charset="2"/>
              <a:buChar char="Ø"/>
            </a:pPr>
            <a:r>
              <a:rPr lang="en-US"/>
              <a:t>conclusion</a:t>
            </a:r>
          </a:p>
        </p:txBody>
      </p:sp>
    </p:spTree>
    <p:extLst>
      <p:ext uri="{BB962C8B-B14F-4D97-AF65-F5344CB8AC3E}">
        <p14:creationId xmlns:p14="http://schemas.microsoft.com/office/powerpoint/2010/main" val="167201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2425" y="466344"/>
            <a:ext cx="6241651" cy="1710354"/>
          </a:xfrm>
          <a:noFill/>
        </p:spPr>
        <p:txBody>
          <a:bodyPr anchor="ctr"/>
          <a:lstStyle/>
          <a:p>
            <a:r>
              <a:rPr lang="en-US" dirty="0"/>
              <a:t>What is phishing?</a:t>
            </a:r>
          </a:p>
        </p:txBody>
      </p:sp>
      <p:pic>
        <p:nvPicPr>
          <p:cNvPr id="20" name="Picture Placeholder 7">
            <a:extLst>
              <a:ext uri="{FF2B5EF4-FFF2-40B4-BE49-F238E27FC236}">
                <a16:creationId xmlns:a16="http://schemas.microsoft.com/office/drawing/2014/main" id="{59669B42-CC26-1A2A-1FE7-526E425D0191}"/>
              </a:ext>
            </a:extLst>
          </p:cNvPr>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5"/>
              </a:ext>
            </a:extLst>
          </a:blip>
          <a:srcRect l="21815" r="21815"/>
          <a:stretch/>
        </p:blipFill>
        <p:spPr>
          <a:xfrm>
            <a:off x="0" y="0"/>
            <a:ext cx="4287838" cy="6858000"/>
          </a:xfrm>
        </p:spPr>
      </p:pic>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242426" y="2286000"/>
            <a:ext cx="6241650" cy="3474720"/>
          </a:xfrm>
          <a:noFill/>
        </p:spPr>
        <p:txBody>
          <a:bodyPr vert="horz" lIns="91440" tIns="45720" rIns="91440" bIns="45720" rtlCol="0" anchor="t">
            <a:normAutofit/>
          </a:bodyPr>
          <a:lstStyle/>
          <a:p>
            <a:pPr marL="0" indent="0">
              <a:buNone/>
            </a:pPr>
            <a:r>
              <a:rPr lang="en-US"/>
              <a:t>Phishing is a type of social engineering attack in which an attacker impersonates a trusted entity to trick recipients into revealing sensitive information, clicking malicious links, or executing harmful attachments.</a:t>
            </a:r>
          </a:p>
          <a:p>
            <a:pPr marL="0" indent="0">
              <a:buNone/>
            </a:pPr>
            <a:r>
              <a:rPr lang="en-US"/>
              <a:t>Why it matters to organizations:</a:t>
            </a:r>
          </a:p>
          <a:p>
            <a:r>
              <a:rPr lang="en-US"/>
              <a:t>Can lead to credential theft, financial loss, data breach, and malware infection.</a:t>
            </a:r>
          </a:p>
          <a:p>
            <a:r>
              <a:rPr lang="en-US"/>
              <a:t>Often targets employees via email, chat, or other communication platforms.</a:t>
            </a:r>
            <a:endParaRPr lang="en-US" dirty="0"/>
          </a:p>
        </p:txBody>
      </p:sp>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635820" y="3846789"/>
            <a:ext cx="10012516" cy="2900680"/>
          </a:xfrm>
          <a:noFill/>
        </p:spPr>
        <p:txBody>
          <a:bodyPr>
            <a:noAutofit/>
          </a:bodyPr>
          <a:lstStyle/>
          <a:p>
            <a:pPr algn="l"/>
            <a:r>
              <a:rPr lang="en-US" sz="2000" b="1" u="sng" cap="none" dirty="0"/>
              <a:t>Spear Phishing</a:t>
            </a:r>
            <a:r>
              <a:rPr lang="en-US" sz="2000" cap="none" dirty="0"/>
              <a:t>: Targeted emails crafted for specific individuals or roles (uses personal details).</a:t>
            </a:r>
            <a:br>
              <a:rPr lang="en-US" sz="2000" cap="none" dirty="0"/>
            </a:br>
            <a:br>
              <a:rPr lang="en-US" sz="2000" cap="none" dirty="0"/>
            </a:br>
            <a:r>
              <a:rPr lang="en-US" sz="2000" b="1" u="sng" cap="none" dirty="0"/>
              <a:t>Whaling</a:t>
            </a:r>
            <a:r>
              <a:rPr lang="en-US" sz="2000" cap="none" dirty="0"/>
              <a:t>: High-value target attacks (CEO/CFO) — often financially motivated.</a:t>
            </a:r>
            <a:br>
              <a:rPr lang="en-US" sz="2000" cap="none" dirty="0"/>
            </a:br>
            <a:br>
              <a:rPr lang="en-US" sz="2000" cap="none" dirty="0"/>
            </a:br>
            <a:r>
              <a:rPr lang="en-US" sz="2000" b="1" u="sng" cap="none" dirty="0"/>
              <a:t>Business Email Compromise (BEC): </a:t>
            </a:r>
            <a:r>
              <a:rPr lang="en-US" sz="2000" cap="none" dirty="0"/>
              <a:t>Fraudulent requests that appear to come from executives or vendors asking for fund transfers or confidential info.</a:t>
            </a:r>
            <a:br>
              <a:rPr lang="en-US" sz="2000" cap="none" dirty="0"/>
            </a:br>
            <a:br>
              <a:rPr lang="en-US" sz="2000" cap="none" dirty="0"/>
            </a:br>
            <a:r>
              <a:rPr lang="en-US" sz="2000" b="1" u="sng" cap="none" dirty="0"/>
              <a:t>Clone Phishing</a:t>
            </a:r>
            <a:r>
              <a:rPr lang="en-US" sz="2000" cap="none" dirty="0"/>
              <a:t>: A legitimate email is copied, modified with malicious links/attachments, then resent.</a:t>
            </a:r>
            <a:br>
              <a:rPr lang="en-US" sz="2000" cap="none" dirty="0"/>
            </a:br>
            <a:br>
              <a:rPr lang="en-US" sz="2000" cap="none" dirty="0"/>
            </a:br>
            <a:r>
              <a:rPr lang="en-US" sz="2000" b="1" u="sng" cap="none" dirty="0"/>
              <a:t>Credential Harvesting</a:t>
            </a:r>
            <a:r>
              <a:rPr lang="en-US" sz="2000" cap="none" dirty="0"/>
              <a:t>: Fake login pages used to capture usernames/passwords.</a:t>
            </a:r>
            <a:br>
              <a:rPr lang="en-US" sz="2000" cap="none" dirty="0"/>
            </a:br>
            <a:br>
              <a:rPr lang="en-US" sz="2000" cap="none" dirty="0"/>
            </a:br>
            <a:r>
              <a:rPr lang="en-US" sz="2000" b="1" u="sng" cap="none" dirty="0"/>
              <a:t>Malicious Attachments</a:t>
            </a:r>
            <a:r>
              <a:rPr lang="en-US" sz="2000" cap="none" dirty="0"/>
              <a:t>: Emails carrying weaponized docs or executables.</a:t>
            </a:r>
          </a:p>
        </p:txBody>
      </p:sp>
      <p:sp>
        <p:nvSpPr>
          <p:cNvPr id="15" name="Subtitle 14">
            <a:extLst>
              <a:ext uri="{FF2B5EF4-FFF2-40B4-BE49-F238E27FC236}">
                <a16:creationId xmlns:a16="http://schemas.microsoft.com/office/drawing/2014/main" id="{9C373000-EEA1-D16F-189A-338FFDA2E708}"/>
              </a:ext>
            </a:extLst>
          </p:cNvPr>
          <p:cNvSpPr>
            <a:spLocks noGrp="1"/>
          </p:cNvSpPr>
          <p:nvPr>
            <p:ph type="subTitle" idx="1"/>
          </p:nvPr>
        </p:nvSpPr>
        <p:spPr>
          <a:xfrm>
            <a:off x="842297" y="546673"/>
            <a:ext cx="5066250" cy="690880"/>
          </a:xfrm>
        </p:spPr>
        <p:txBody>
          <a:bodyPr>
            <a:normAutofit lnSpcReduction="10000"/>
          </a:bodyPr>
          <a:lstStyle/>
          <a:p>
            <a:r>
              <a:rPr lang="en-US" dirty="0"/>
              <a:t>Common types of phishing in organizations</a:t>
            </a:r>
          </a:p>
        </p:txBody>
      </p:sp>
    </p:spTree>
    <p:extLst>
      <p:ext uri="{BB962C8B-B14F-4D97-AF65-F5344CB8AC3E}">
        <p14:creationId xmlns:p14="http://schemas.microsoft.com/office/powerpoint/2010/main" val="393043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11">
            <a:extLst>
              <a:ext uri="{FF2B5EF4-FFF2-40B4-BE49-F238E27FC236}">
                <a16:creationId xmlns:a16="http://schemas.microsoft.com/office/drawing/2014/main" id="{A336FEA9-C85A-3569-16F0-5ECBABBE0BEC}"/>
              </a:ext>
            </a:extLst>
          </p:cNvPr>
          <p:cNvSpPr>
            <a:spLocks noGrp="1"/>
          </p:cNvSpPr>
          <p:nvPr>
            <p:ph type="subTitle" idx="1"/>
          </p:nvPr>
        </p:nvSpPr>
        <p:spPr>
          <a:xfrm>
            <a:off x="1524000" y="551223"/>
            <a:ext cx="9144000" cy="683219"/>
          </a:xfrm>
        </p:spPr>
        <p:txBody>
          <a:bodyPr/>
          <a:lstStyle/>
          <a:p>
            <a:r>
              <a:rPr lang="en-US" dirty="0"/>
              <a:t>Spotting a spoofed email</a:t>
            </a:r>
          </a:p>
        </p:txBody>
      </p:sp>
      <p:grpSp>
        <p:nvGrpSpPr>
          <p:cNvPr id="9" name="Group 8">
            <a:extLst>
              <a:ext uri="{FF2B5EF4-FFF2-40B4-BE49-F238E27FC236}">
                <a16:creationId xmlns:a16="http://schemas.microsoft.com/office/drawing/2014/main" id="{7DEA2F2B-0540-531A-327B-8FA7B65DD50B}"/>
              </a:ext>
            </a:extLst>
          </p:cNvPr>
          <p:cNvGrpSpPr/>
          <p:nvPr/>
        </p:nvGrpSpPr>
        <p:grpSpPr>
          <a:xfrm>
            <a:off x="1160106" y="1559775"/>
            <a:ext cx="9507894" cy="5152764"/>
            <a:chOff x="1268963" y="1839693"/>
            <a:chExt cx="9507894" cy="5152764"/>
          </a:xfrm>
        </p:grpSpPr>
        <p:grpSp>
          <p:nvGrpSpPr>
            <p:cNvPr id="13" name="Group 12">
              <a:extLst>
                <a:ext uri="{FF2B5EF4-FFF2-40B4-BE49-F238E27FC236}">
                  <a16:creationId xmlns:a16="http://schemas.microsoft.com/office/drawing/2014/main" id="{79BC311E-4B19-2A89-7A28-3C3AA524622C}"/>
                </a:ext>
              </a:extLst>
            </p:cNvPr>
            <p:cNvGrpSpPr/>
            <p:nvPr/>
          </p:nvGrpSpPr>
          <p:grpSpPr>
            <a:xfrm>
              <a:off x="1268963" y="1839693"/>
              <a:ext cx="9507894" cy="5152764"/>
              <a:chOff x="314632" y="1705236"/>
              <a:chExt cx="7924800" cy="5152764"/>
            </a:xfrm>
          </p:grpSpPr>
          <p:pic>
            <p:nvPicPr>
              <p:cNvPr id="6" name="Picture 5" descr="A screenshot of a computer&#10;&#10;AI-generated content may be incorrect.">
                <a:extLst>
                  <a:ext uri="{FF2B5EF4-FFF2-40B4-BE49-F238E27FC236}">
                    <a16:creationId xmlns:a16="http://schemas.microsoft.com/office/drawing/2014/main" id="{91219935-7DF6-E19E-58A7-B4DA579F30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632" y="1705236"/>
                <a:ext cx="7826477" cy="3616062"/>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193FBD44-0ECF-BF23-0381-00DF7901A5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4632" y="3826228"/>
                <a:ext cx="7924800" cy="3031772"/>
              </a:xfrm>
              <a:prstGeom prst="rect">
                <a:avLst/>
              </a:prstGeom>
            </p:spPr>
          </p:pic>
        </p:grpSp>
        <p:sp>
          <p:nvSpPr>
            <p:cNvPr id="2" name="Rectangle 1">
              <a:extLst>
                <a:ext uri="{FF2B5EF4-FFF2-40B4-BE49-F238E27FC236}">
                  <a16:creationId xmlns:a16="http://schemas.microsoft.com/office/drawing/2014/main" id="{66F3AAE8-DBE5-19FD-CA30-82417264A3AB}"/>
                </a:ext>
              </a:extLst>
            </p:cNvPr>
            <p:cNvSpPr/>
            <p:nvPr/>
          </p:nvSpPr>
          <p:spPr>
            <a:xfrm>
              <a:off x="1940767" y="2575249"/>
              <a:ext cx="2425960" cy="3638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CD449D5-44BB-8167-7BC0-0D450521F6A5}"/>
                </a:ext>
              </a:extLst>
            </p:cNvPr>
            <p:cNvSpPr/>
            <p:nvPr/>
          </p:nvSpPr>
          <p:spPr>
            <a:xfrm>
              <a:off x="1940767" y="4851918"/>
              <a:ext cx="2230017" cy="92373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D7D4F60A-E330-15B0-235A-82A1732228A1}"/>
                </a:ext>
              </a:extLst>
            </p:cNvPr>
            <p:cNvCxnSpPr/>
            <p:nvPr/>
          </p:nvCxnSpPr>
          <p:spPr>
            <a:xfrm>
              <a:off x="7445829" y="4599992"/>
              <a:ext cx="275253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1AD04F7-617D-C2C8-2723-0F99121A0B8E}"/>
                </a:ext>
              </a:extLst>
            </p:cNvPr>
            <p:cNvCxnSpPr/>
            <p:nvPr/>
          </p:nvCxnSpPr>
          <p:spPr>
            <a:xfrm>
              <a:off x="2006082" y="4665306"/>
              <a:ext cx="1931436"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79936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6D62BE6E-8F34-3807-05F9-2B971322700F}"/>
              </a:ext>
            </a:extLst>
          </p:cNvPr>
          <p:cNvSpPr txBox="1"/>
          <p:nvPr/>
        </p:nvSpPr>
        <p:spPr>
          <a:xfrm>
            <a:off x="530942" y="55984"/>
            <a:ext cx="11130116" cy="5632311"/>
          </a:xfrm>
          <a:prstGeom prst="rect">
            <a:avLst/>
          </a:prstGeom>
          <a:noFill/>
        </p:spPr>
        <p:txBody>
          <a:bodyPr wrap="square" rtlCol="0">
            <a:spAutoFit/>
          </a:bodyPr>
          <a:lstStyle/>
          <a:p>
            <a:pPr>
              <a:buNone/>
            </a:pPr>
            <a:endParaRPr lang="en-US" dirty="0"/>
          </a:p>
          <a:p>
            <a:pPr>
              <a:buNone/>
            </a:pPr>
            <a:r>
              <a:rPr lang="en-US" dirty="0"/>
              <a:t>The above screenshot shows a job-related email that was delivered to my personal inbox. The highlighted sections in red indicate several indicators that quickly identified the email as a </a:t>
            </a:r>
            <a:r>
              <a:rPr lang="en-US" b="1" dirty="0"/>
              <a:t>spoofed and potentially malicious message</a:t>
            </a:r>
            <a:r>
              <a:rPr lang="en-US" dirty="0"/>
              <a:t>.</a:t>
            </a:r>
          </a:p>
          <a:p>
            <a:pPr>
              <a:buNone/>
            </a:pPr>
            <a:endParaRPr lang="en-US" dirty="0"/>
          </a:p>
          <a:p>
            <a:pPr>
              <a:buNone/>
            </a:pPr>
            <a:r>
              <a:rPr lang="en-US" dirty="0"/>
              <a:t>The subject line was </a:t>
            </a:r>
            <a:r>
              <a:rPr lang="en-US" i="1" dirty="0"/>
              <a:t>“Employment Opportunity”</a:t>
            </a:r>
            <a:r>
              <a:rPr lang="en-US" dirty="0"/>
              <a:t>, and the sender claimed to represent a company named </a:t>
            </a:r>
            <a:r>
              <a:rPr lang="en-US" b="1" dirty="0"/>
              <a:t>Paradigm Therapeutics</a:t>
            </a:r>
            <a:r>
              <a:rPr lang="en-US" dirty="0"/>
              <a:t>. However, the sender's email address used a public domain (</a:t>
            </a:r>
            <a:r>
              <a:rPr lang="en-US" b="1" dirty="0"/>
              <a:t>gmail.com</a:t>
            </a:r>
            <a:r>
              <a:rPr lang="en-US" dirty="0"/>
              <a:t>) instead of an official corporate domain, which is a strong sign of impersonation. The message advertised an attractive pay rate of </a:t>
            </a:r>
            <a:r>
              <a:rPr lang="en-US" b="1" dirty="0"/>
              <a:t>$35 per hour</a:t>
            </a:r>
            <a:r>
              <a:rPr lang="en-US" dirty="0"/>
              <a:t> and listed an inconsistent job title (</a:t>
            </a:r>
            <a:r>
              <a:rPr lang="en-US" i="1" dirty="0"/>
              <a:t>Data Entry Clerk / Customer Service Representative</a:t>
            </a:r>
            <a:r>
              <a:rPr lang="en-US" dirty="0"/>
              <a:t>), which raised suspicion.</a:t>
            </a:r>
          </a:p>
          <a:p>
            <a:pPr>
              <a:buNone/>
            </a:pPr>
            <a:r>
              <a:rPr lang="en-US" dirty="0"/>
              <a:t>Using the </a:t>
            </a:r>
            <a:r>
              <a:rPr lang="en-US" b="1" dirty="0"/>
              <a:t>S.T.O.P phishing detection model</a:t>
            </a:r>
            <a:r>
              <a:rPr lang="en-US" dirty="0"/>
              <a:t>:</a:t>
            </a:r>
          </a:p>
          <a:p>
            <a:pPr>
              <a:buNone/>
            </a:pPr>
            <a:endParaRPr lang="en-US" dirty="0"/>
          </a:p>
          <a:p>
            <a:pPr>
              <a:buFont typeface="Arial" panose="020B0604020202020204" pitchFamily="34" charset="0"/>
              <a:buChar char="•"/>
            </a:pPr>
            <a:r>
              <a:rPr lang="en-US" b="1" dirty="0"/>
              <a:t>S – Suspicious:</a:t>
            </a:r>
            <a:r>
              <a:rPr lang="en-US" dirty="0"/>
              <a:t> The sender did not use an official company domain.</a:t>
            </a:r>
          </a:p>
          <a:p>
            <a:pPr>
              <a:buFont typeface="Arial" panose="020B0604020202020204" pitchFamily="34" charset="0"/>
              <a:buChar char="•"/>
            </a:pPr>
            <a:r>
              <a:rPr lang="en-US" b="1" dirty="0"/>
              <a:t>T – Tells you to click a link:</a:t>
            </a:r>
            <a:r>
              <a:rPr lang="en-US" dirty="0"/>
              <a:t> The email included a call-to-action link.</a:t>
            </a:r>
          </a:p>
          <a:p>
            <a:pPr>
              <a:buFont typeface="Arial" panose="020B0604020202020204" pitchFamily="34" charset="0"/>
              <a:buChar char="•"/>
            </a:pPr>
            <a:r>
              <a:rPr lang="en-US" b="1" dirty="0"/>
              <a:t>O – Offering something too good to be true:</a:t>
            </a:r>
            <a:r>
              <a:rPr lang="en-US" dirty="0"/>
              <a:t> A high hourly wage was offered for an unclear role.</a:t>
            </a:r>
          </a:p>
          <a:p>
            <a:pPr>
              <a:buFont typeface="Arial" panose="020B0604020202020204" pitchFamily="34" charset="0"/>
              <a:buChar char="•"/>
            </a:pPr>
            <a:r>
              <a:rPr lang="en-US" b="1" dirty="0"/>
              <a:t>P – Pressures you to act fast:</a:t>
            </a:r>
            <a:r>
              <a:rPr lang="en-US" dirty="0"/>
              <a:t> </a:t>
            </a:r>
            <a:r>
              <a:rPr lang="en-US" i="1" dirty="0"/>
              <a:t>(Not observed in this case)</a:t>
            </a:r>
          </a:p>
          <a:p>
            <a:endParaRPr lang="en-US" dirty="0"/>
          </a:p>
          <a:p>
            <a:pPr>
              <a:buNone/>
            </a:pPr>
            <a:r>
              <a:rPr lang="en-US" dirty="0"/>
              <a:t>This email clearly triggered the first three indicators, making it highly suspicious.</a:t>
            </a:r>
          </a:p>
          <a:p>
            <a:pPr>
              <a:buNone/>
            </a:pPr>
            <a:r>
              <a:rPr lang="en-US" dirty="0"/>
              <a:t>To validate the legitimacy of the sender, I independently searched for Paradigm Therapeutics and contacted the company directly via their official website email address. The response received (shown below) confirmed that the email did </a:t>
            </a:r>
            <a:r>
              <a:rPr lang="en-US" b="1" dirty="0"/>
              <a:t>not</a:t>
            </a:r>
            <a:r>
              <a:rPr lang="en-US" dirty="0"/>
              <a:t> originate from them. The responder clearly used the legitimate domain (@paradigmtherapeutics.com), which verified that the email I received was </a:t>
            </a:r>
            <a:r>
              <a:rPr lang="en-US" b="1" dirty="0"/>
              <a:t>fraudulent</a:t>
            </a:r>
            <a:r>
              <a:rPr lang="en-US" dirty="0"/>
              <a:t> and that any link contained in the message was unsafe to click.</a:t>
            </a:r>
          </a:p>
        </p:txBody>
      </p:sp>
    </p:spTree>
    <p:extLst>
      <p:ext uri="{BB962C8B-B14F-4D97-AF65-F5344CB8AC3E}">
        <p14:creationId xmlns:p14="http://schemas.microsoft.com/office/powerpoint/2010/main" val="2243159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E2279-507B-5C11-1A9B-DFFB6E82EB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798A5A-EB5A-7696-E431-424F60081731}"/>
              </a:ext>
            </a:extLst>
          </p:cNvPr>
          <p:cNvSpPr txBox="1"/>
          <p:nvPr/>
        </p:nvSpPr>
        <p:spPr>
          <a:xfrm>
            <a:off x="1176734" y="3571892"/>
            <a:ext cx="9153331" cy="2308324"/>
          </a:xfrm>
          <a:prstGeom prst="rect">
            <a:avLst/>
          </a:prstGeom>
          <a:noFill/>
        </p:spPr>
        <p:txBody>
          <a:bodyPr wrap="square" rtlCol="0">
            <a:spAutoFit/>
          </a:bodyPr>
          <a:lstStyle/>
          <a:p>
            <a:pPr>
              <a:buNone/>
            </a:pPr>
            <a:r>
              <a:rPr lang="en-US" dirty="0"/>
              <a:t>To further confirm the malicious nature of the email, I conducted a deeper investigation of the embedded link using the tool </a:t>
            </a:r>
            <a:r>
              <a:rPr lang="en-US" b="1" dirty="0"/>
              <a:t>urlscan.io</a:t>
            </a:r>
            <a:r>
              <a:rPr lang="en-US" dirty="0"/>
              <a:t>.</a:t>
            </a:r>
            <a:br>
              <a:rPr lang="en-US" dirty="0"/>
            </a:br>
            <a:endParaRPr lang="en-US" dirty="0"/>
          </a:p>
          <a:p>
            <a:pPr>
              <a:buNone/>
            </a:pPr>
            <a:r>
              <a:rPr lang="en-US" dirty="0"/>
              <a:t>This analysis resolved the destination of the link, identified redirections, and revealed indicators commonly associated with phishing websites. The results provided further confirmation that the link was unsafe and associated with suspicious hosting behavior.</a:t>
            </a:r>
          </a:p>
          <a:p>
            <a:pPr>
              <a:buNone/>
            </a:pPr>
            <a:endParaRPr lang="en-US" dirty="0"/>
          </a:p>
          <a:p>
            <a:pPr>
              <a:buNone/>
            </a:pPr>
            <a:r>
              <a:rPr lang="en-US" dirty="0"/>
              <a:t>The screenshot below displays the output of the URL analysis.</a:t>
            </a:r>
          </a:p>
        </p:txBody>
      </p:sp>
      <p:grpSp>
        <p:nvGrpSpPr>
          <p:cNvPr id="9" name="Group 8">
            <a:extLst>
              <a:ext uri="{FF2B5EF4-FFF2-40B4-BE49-F238E27FC236}">
                <a16:creationId xmlns:a16="http://schemas.microsoft.com/office/drawing/2014/main" id="{E868AC46-C9E3-9ECE-334C-53EB7973216B}"/>
              </a:ext>
            </a:extLst>
          </p:cNvPr>
          <p:cNvGrpSpPr/>
          <p:nvPr/>
        </p:nvGrpSpPr>
        <p:grpSpPr>
          <a:xfrm>
            <a:off x="641957" y="146636"/>
            <a:ext cx="9892304" cy="3193723"/>
            <a:chOff x="641957" y="146636"/>
            <a:chExt cx="9892304" cy="3193723"/>
          </a:xfrm>
        </p:grpSpPr>
        <p:pic>
          <p:nvPicPr>
            <p:cNvPr id="14" name="Picture 13" descr="A screenshot of a computer&#10;&#10;AI-generated content may be incorrect.">
              <a:extLst>
                <a:ext uri="{FF2B5EF4-FFF2-40B4-BE49-F238E27FC236}">
                  <a16:creationId xmlns:a16="http://schemas.microsoft.com/office/drawing/2014/main" id="{D4F78808-4131-2DBE-7BBE-E9061841D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957" y="146636"/>
              <a:ext cx="9892304" cy="3193723"/>
            </a:xfrm>
            <a:prstGeom prst="rect">
              <a:avLst/>
            </a:prstGeom>
          </p:spPr>
        </p:pic>
        <p:sp>
          <p:nvSpPr>
            <p:cNvPr id="32" name="Arrow: Right 31">
              <a:extLst>
                <a:ext uri="{FF2B5EF4-FFF2-40B4-BE49-F238E27FC236}">
                  <a16:creationId xmlns:a16="http://schemas.microsoft.com/office/drawing/2014/main" id="{285D5EA1-439E-EDA8-EF91-F8C9147BB5AC}"/>
                </a:ext>
              </a:extLst>
            </p:cNvPr>
            <p:cNvSpPr/>
            <p:nvPr/>
          </p:nvSpPr>
          <p:spPr>
            <a:xfrm flipH="1" flipV="1">
              <a:off x="3343675" y="1035228"/>
              <a:ext cx="324006" cy="167600"/>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Right 32">
              <a:extLst>
                <a:ext uri="{FF2B5EF4-FFF2-40B4-BE49-F238E27FC236}">
                  <a16:creationId xmlns:a16="http://schemas.microsoft.com/office/drawing/2014/main" id="{E551D5C8-2971-003D-5751-39822B5C4FAE}"/>
                </a:ext>
              </a:extLst>
            </p:cNvPr>
            <p:cNvSpPr/>
            <p:nvPr/>
          </p:nvSpPr>
          <p:spPr>
            <a:xfrm flipH="1" flipV="1">
              <a:off x="6376168" y="1775464"/>
              <a:ext cx="324006" cy="167600"/>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3008B88-3564-AAA8-6EA5-2BAFB2E6FEAE}"/>
                </a:ext>
              </a:extLst>
            </p:cNvPr>
            <p:cNvSpPr/>
            <p:nvPr/>
          </p:nvSpPr>
          <p:spPr>
            <a:xfrm>
              <a:off x="1684848" y="2720450"/>
              <a:ext cx="1854459" cy="16788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8D3F758F-98D1-9075-20DB-9F6D2F021325}"/>
                </a:ext>
              </a:extLst>
            </p:cNvPr>
            <p:cNvCxnSpPr/>
            <p:nvPr/>
          </p:nvCxnSpPr>
          <p:spPr>
            <a:xfrm>
              <a:off x="1390261" y="1278294"/>
              <a:ext cx="1819470"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F99A9978-79F0-451B-04EA-7F514C280B1B}"/>
                </a:ext>
              </a:extLst>
            </p:cNvPr>
            <p:cNvCxnSpPr/>
            <p:nvPr/>
          </p:nvCxnSpPr>
          <p:spPr>
            <a:xfrm>
              <a:off x="4525347" y="2015412"/>
              <a:ext cx="1707502"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45172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A3561-F988-BDA0-D643-C5B6908DACE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5701E73-CC2B-A9D5-6451-68712C3C43EA}"/>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Rectangle 6">
            <a:extLst>
              <a:ext uri="{FF2B5EF4-FFF2-40B4-BE49-F238E27FC236}">
                <a16:creationId xmlns:a16="http://schemas.microsoft.com/office/drawing/2014/main" id="{A98886EE-4070-72B3-0606-0B11ED6A60FE}"/>
              </a:ext>
              <a:ext uri="{C183D7F6-B498-43B3-948B-1728B52AA6E4}">
                <adec:decorative xmlns:adec="http://schemas.microsoft.com/office/drawing/2017/decorative" val="1"/>
              </a:ext>
            </a:extLst>
          </p:cNvPr>
          <p:cNvSpPr/>
          <p:nvPr/>
        </p:nvSpPr>
        <p:spPr>
          <a:xfrm>
            <a:off x="1221658" y="528810"/>
            <a:ext cx="9748684" cy="646331"/>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2400" dirty="0"/>
              <a:t>ANALYZING SUSPICIOUS URLs</a:t>
            </a:r>
          </a:p>
        </p:txBody>
      </p:sp>
      <p:grpSp>
        <p:nvGrpSpPr>
          <p:cNvPr id="6" name="Group 5">
            <a:extLst>
              <a:ext uri="{FF2B5EF4-FFF2-40B4-BE49-F238E27FC236}">
                <a16:creationId xmlns:a16="http://schemas.microsoft.com/office/drawing/2014/main" id="{8CC30F7E-731F-DC87-C2D1-6EDF2766E603}"/>
              </a:ext>
            </a:extLst>
          </p:cNvPr>
          <p:cNvGrpSpPr/>
          <p:nvPr/>
        </p:nvGrpSpPr>
        <p:grpSpPr>
          <a:xfrm>
            <a:off x="1004119" y="1670363"/>
            <a:ext cx="10183761" cy="4194362"/>
            <a:chOff x="1004119" y="1670363"/>
            <a:chExt cx="10183761" cy="4194362"/>
          </a:xfrm>
        </p:grpSpPr>
        <p:pic>
          <p:nvPicPr>
            <p:cNvPr id="9" name="Picture 8" descr="A screenshot of a computer&#10;&#10;AI-generated content may be incorrect.">
              <a:extLst>
                <a:ext uri="{FF2B5EF4-FFF2-40B4-BE49-F238E27FC236}">
                  <a16:creationId xmlns:a16="http://schemas.microsoft.com/office/drawing/2014/main" id="{6F9F49FF-87B0-342E-E942-9F3E0CF18F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4119" y="1670363"/>
              <a:ext cx="10183761" cy="4194362"/>
            </a:xfrm>
            <a:prstGeom prst="rect">
              <a:avLst/>
            </a:prstGeom>
          </p:spPr>
        </p:pic>
        <p:sp>
          <p:nvSpPr>
            <p:cNvPr id="2" name="Rectangle 1">
              <a:extLst>
                <a:ext uri="{FF2B5EF4-FFF2-40B4-BE49-F238E27FC236}">
                  <a16:creationId xmlns:a16="http://schemas.microsoft.com/office/drawing/2014/main" id="{3E2BE108-0A12-9FB9-A78E-0FED82BD0D8A}"/>
                </a:ext>
              </a:extLst>
            </p:cNvPr>
            <p:cNvSpPr/>
            <p:nvPr/>
          </p:nvSpPr>
          <p:spPr>
            <a:xfrm>
              <a:off x="2733869" y="2761861"/>
              <a:ext cx="2649894" cy="6671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F480687-EDB7-7F97-E107-ABBEB7381AAC}"/>
                </a:ext>
              </a:extLst>
            </p:cNvPr>
            <p:cNvSpPr/>
            <p:nvPr/>
          </p:nvSpPr>
          <p:spPr>
            <a:xfrm>
              <a:off x="1623527" y="4520498"/>
              <a:ext cx="3265714" cy="70464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19927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C53AA-B93B-6392-94D9-F69B62283B3B}"/>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EB7076DE-5771-19D9-89CA-EDF245C133A0}"/>
              </a:ext>
            </a:extLst>
          </p:cNvPr>
          <p:cNvSpPr txBox="1"/>
          <p:nvPr/>
        </p:nvSpPr>
        <p:spPr>
          <a:xfrm>
            <a:off x="530942" y="1707504"/>
            <a:ext cx="11130116" cy="4801314"/>
          </a:xfrm>
          <a:prstGeom prst="rect">
            <a:avLst/>
          </a:prstGeom>
          <a:noFill/>
        </p:spPr>
        <p:txBody>
          <a:bodyPr wrap="square" rtlCol="0">
            <a:spAutoFit/>
          </a:bodyPr>
          <a:lstStyle/>
          <a:p>
            <a:pPr>
              <a:buNone/>
            </a:pPr>
            <a:r>
              <a:rPr lang="en-US" dirty="0"/>
              <a:t>The next phase of the investigation was </a:t>
            </a:r>
            <a:r>
              <a:rPr lang="en-US" b="1" dirty="0"/>
              <a:t>email header analysis</a:t>
            </a:r>
            <a:r>
              <a:rPr lang="en-US" dirty="0"/>
              <a:t>, which helps determine the true source of an email.</a:t>
            </a:r>
          </a:p>
          <a:p>
            <a:pPr>
              <a:buNone/>
            </a:pPr>
            <a:endParaRPr lang="en-US" dirty="0"/>
          </a:p>
          <a:p>
            <a:pPr>
              <a:buNone/>
            </a:pPr>
            <a:r>
              <a:rPr lang="en-US" dirty="0"/>
              <a:t>I exported the message as a file and opened it using </a:t>
            </a:r>
            <a:r>
              <a:rPr lang="en-US" b="1" dirty="0"/>
              <a:t>Notepad</a:t>
            </a:r>
            <a:r>
              <a:rPr lang="en-US" dirty="0"/>
              <a:t> to view the raw header data. A second tool, </a:t>
            </a:r>
            <a:r>
              <a:rPr lang="en-US" b="1" dirty="0" err="1"/>
              <a:t>MxToolBox</a:t>
            </a:r>
            <a:r>
              <a:rPr lang="en-US" dirty="0"/>
              <a:t>, was also used to assist with header parsing and interpretation.</a:t>
            </a:r>
          </a:p>
          <a:p>
            <a:pPr>
              <a:buNone/>
            </a:pPr>
            <a:endParaRPr lang="en-US" dirty="0"/>
          </a:p>
          <a:p>
            <a:pPr>
              <a:buNone/>
            </a:pPr>
            <a:r>
              <a:rPr lang="en-US" dirty="0"/>
              <a:t>The header analysis revealed details about:</a:t>
            </a:r>
          </a:p>
          <a:p>
            <a:pPr>
              <a:buNone/>
            </a:pPr>
            <a:endParaRPr lang="en-US" dirty="0"/>
          </a:p>
          <a:p>
            <a:pPr>
              <a:buFont typeface="Arial" panose="020B0604020202020204" pitchFamily="34" charset="0"/>
              <a:buChar char="•"/>
            </a:pPr>
            <a:r>
              <a:rPr lang="en-US" dirty="0"/>
              <a:t>Sending mail servers</a:t>
            </a:r>
          </a:p>
          <a:p>
            <a:pPr>
              <a:buFont typeface="Arial" panose="020B0604020202020204" pitchFamily="34" charset="0"/>
              <a:buChar char="•"/>
            </a:pPr>
            <a:r>
              <a:rPr lang="en-US" dirty="0"/>
              <a:t>Origin IP address</a:t>
            </a:r>
          </a:p>
          <a:p>
            <a:pPr>
              <a:buFont typeface="Arial" panose="020B0604020202020204" pitchFamily="34" charset="0"/>
              <a:buChar char="•"/>
            </a:pPr>
            <a:r>
              <a:rPr lang="en-US" dirty="0"/>
              <a:t>SPF, DKIM, and DMARC authentication results</a:t>
            </a:r>
          </a:p>
          <a:p>
            <a:pPr>
              <a:buFont typeface="Arial" panose="020B0604020202020204" pitchFamily="34" charset="0"/>
              <a:buChar char="•"/>
            </a:pPr>
            <a:r>
              <a:rPr lang="en-US" dirty="0"/>
              <a:t>Message routing path</a:t>
            </a:r>
          </a:p>
          <a:p>
            <a:pPr>
              <a:buFont typeface="Arial" panose="020B0604020202020204" pitchFamily="34" charset="0"/>
              <a:buChar char="•"/>
            </a:pPr>
            <a:r>
              <a:rPr lang="en-US" dirty="0"/>
              <a:t>Domain used</a:t>
            </a:r>
          </a:p>
          <a:p>
            <a:pPr>
              <a:buFont typeface="Arial" panose="020B0604020202020204" pitchFamily="34" charset="0"/>
              <a:buChar char="•"/>
            </a:pPr>
            <a:r>
              <a:rPr lang="en-US" dirty="0"/>
              <a:t>Mail transfer agents involved</a:t>
            </a:r>
          </a:p>
          <a:p>
            <a:endParaRPr lang="en-US" dirty="0"/>
          </a:p>
          <a:p>
            <a:pPr>
              <a:buNone/>
            </a:pPr>
            <a:r>
              <a:rPr lang="en-US" dirty="0"/>
              <a:t>All these elements are critical for forensically reviewing phishing emails and tracing their origin.</a:t>
            </a:r>
          </a:p>
          <a:p>
            <a:pPr>
              <a:buNone/>
            </a:pPr>
            <a:endParaRPr lang="en-US" dirty="0"/>
          </a:p>
          <a:p>
            <a:pPr>
              <a:buNone/>
            </a:pPr>
            <a:endParaRPr lang="en-US" dirty="0"/>
          </a:p>
        </p:txBody>
      </p:sp>
      <p:sp>
        <p:nvSpPr>
          <p:cNvPr id="2" name="Rectangle 1">
            <a:extLst>
              <a:ext uri="{FF2B5EF4-FFF2-40B4-BE49-F238E27FC236}">
                <a16:creationId xmlns:a16="http://schemas.microsoft.com/office/drawing/2014/main" id="{C2A8B9A6-090C-1FE1-47FB-64A155014AE2}"/>
              </a:ext>
              <a:ext uri="{C183D7F6-B498-43B3-948B-1728B52AA6E4}">
                <adec:decorative xmlns:adec="http://schemas.microsoft.com/office/drawing/2017/decorative" val="1"/>
              </a:ext>
            </a:extLst>
          </p:cNvPr>
          <p:cNvSpPr/>
          <p:nvPr/>
        </p:nvSpPr>
        <p:spPr>
          <a:xfrm>
            <a:off x="1221658" y="528810"/>
            <a:ext cx="9748684" cy="646331"/>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2400" dirty="0"/>
              <a:t>INESTIGATING EMAIL HEADERS</a:t>
            </a:r>
          </a:p>
        </p:txBody>
      </p:sp>
    </p:spTree>
    <p:extLst>
      <p:ext uri="{BB962C8B-B14F-4D97-AF65-F5344CB8AC3E}">
        <p14:creationId xmlns:p14="http://schemas.microsoft.com/office/powerpoint/2010/main" val="771716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405DB-56CA-1C65-0578-2B9353B15EE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8B68243-31C1-6DEC-D4A8-C31F88AF6F2A}"/>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pSp>
        <p:nvGrpSpPr>
          <p:cNvPr id="2" name="Group 1">
            <a:extLst>
              <a:ext uri="{FF2B5EF4-FFF2-40B4-BE49-F238E27FC236}">
                <a16:creationId xmlns:a16="http://schemas.microsoft.com/office/drawing/2014/main" id="{31AC6370-FEE8-3253-5790-D60FACA17F49}"/>
              </a:ext>
            </a:extLst>
          </p:cNvPr>
          <p:cNvGrpSpPr/>
          <p:nvPr/>
        </p:nvGrpSpPr>
        <p:grpSpPr>
          <a:xfrm>
            <a:off x="314836" y="657469"/>
            <a:ext cx="6349598" cy="3163303"/>
            <a:chOff x="314836" y="2248452"/>
            <a:chExt cx="6349598" cy="3163303"/>
          </a:xfrm>
        </p:grpSpPr>
        <p:pic>
          <p:nvPicPr>
            <p:cNvPr id="6" name="Picture 5" descr="A screenshot of a computer&#10;&#10;AI-generated content may be incorrect.">
              <a:extLst>
                <a:ext uri="{FF2B5EF4-FFF2-40B4-BE49-F238E27FC236}">
                  <a16:creationId xmlns:a16="http://schemas.microsoft.com/office/drawing/2014/main" id="{26860021-D288-B55F-23E4-C79DD47473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836" y="2248452"/>
              <a:ext cx="6349598" cy="3163303"/>
            </a:xfrm>
            <a:prstGeom prst="rect">
              <a:avLst/>
            </a:prstGeom>
          </p:spPr>
        </p:pic>
        <p:sp>
          <p:nvSpPr>
            <p:cNvPr id="11" name="Arrow: Right 10">
              <a:extLst>
                <a:ext uri="{FF2B5EF4-FFF2-40B4-BE49-F238E27FC236}">
                  <a16:creationId xmlns:a16="http://schemas.microsoft.com/office/drawing/2014/main" id="{B54F2290-5A02-6053-82F9-D14A518BDD7C}"/>
                </a:ext>
              </a:extLst>
            </p:cNvPr>
            <p:cNvSpPr/>
            <p:nvPr/>
          </p:nvSpPr>
          <p:spPr>
            <a:xfrm>
              <a:off x="4646645" y="4932248"/>
              <a:ext cx="363894" cy="152936"/>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7AAEC6D-21CE-3C0F-F10A-D4E58737B077}"/>
              </a:ext>
            </a:extLst>
          </p:cNvPr>
          <p:cNvGrpSpPr/>
          <p:nvPr/>
        </p:nvGrpSpPr>
        <p:grpSpPr>
          <a:xfrm>
            <a:off x="6744595" y="2239120"/>
            <a:ext cx="5132569" cy="3736910"/>
            <a:chOff x="6744595" y="1961648"/>
            <a:chExt cx="5132569" cy="3736910"/>
          </a:xfrm>
        </p:grpSpPr>
        <p:pic>
          <p:nvPicPr>
            <p:cNvPr id="10" name="Picture 9" descr="A screenshot of a computer&#10;&#10;AI-generated content may be incorrect.">
              <a:extLst>
                <a:ext uri="{FF2B5EF4-FFF2-40B4-BE49-F238E27FC236}">
                  <a16:creationId xmlns:a16="http://schemas.microsoft.com/office/drawing/2014/main" id="{D3F2D496-CD1A-42FC-0EC9-2739137CC5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4595" y="1961648"/>
              <a:ext cx="5132569" cy="3736910"/>
            </a:xfrm>
            <a:prstGeom prst="rect">
              <a:avLst/>
            </a:prstGeom>
          </p:spPr>
        </p:pic>
        <p:sp>
          <p:nvSpPr>
            <p:cNvPr id="13" name="Arrow: Left 12">
              <a:extLst>
                <a:ext uri="{FF2B5EF4-FFF2-40B4-BE49-F238E27FC236}">
                  <a16:creationId xmlns:a16="http://schemas.microsoft.com/office/drawing/2014/main" id="{F67EFDBF-16B4-0E84-60CD-ECEDF635C95F}"/>
                </a:ext>
              </a:extLst>
            </p:cNvPr>
            <p:cNvSpPr/>
            <p:nvPr/>
          </p:nvSpPr>
          <p:spPr>
            <a:xfrm>
              <a:off x="11402008" y="2687216"/>
              <a:ext cx="270588" cy="158621"/>
            </a:xfrm>
            <a:prstGeom prst="lef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3E7DD96A-3A8B-5D77-8555-D3F66DE792BF}"/>
                </a:ext>
              </a:extLst>
            </p:cNvPr>
            <p:cNvSpPr/>
            <p:nvPr/>
          </p:nvSpPr>
          <p:spPr>
            <a:xfrm>
              <a:off x="6744595" y="2323324"/>
              <a:ext cx="298580" cy="179726"/>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Elbow 16">
              <a:extLst>
                <a:ext uri="{FF2B5EF4-FFF2-40B4-BE49-F238E27FC236}">
                  <a16:creationId xmlns:a16="http://schemas.microsoft.com/office/drawing/2014/main" id="{FC028D51-BC4E-3BAF-7AC7-70F69AD34A59}"/>
                </a:ext>
              </a:extLst>
            </p:cNvPr>
            <p:cNvCxnSpPr/>
            <p:nvPr/>
          </p:nvCxnSpPr>
          <p:spPr>
            <a:xfrm>
              <a:off x="9582538" y="2736314"/>
              <a:ext cx="298580" cy="109523"/>
            </a:xfrm>
            <a:prstGeom prst="bentConnector3">
              <a:avLst>
                <a:gd name="adj1" fmla="val 50000"/>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32477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12" name="Picture 11" descr="A screenshot of a computer&#10;&#10;AI-generated content may be incorrect.">
            <a:extLst>
              <a:ext uri="{FF2B5EF4-FFF2-40B4-BE49-F238E27FC236}">
                <a16:creationId xmlns:a16="http://schemas.microsoft.com/office/drawing/2014/main" id="{61EB1EFE-3908-CC5E-E89A-AC2465888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2781" y="0"/>
            <a:ext cx="10026438" cy="6858000"/>
          </a:xfrm>
          <a:prstGeom prst="rect">
            <a:avLst/>
          </a:prstGeom>
          <a:ln>
            <a:solidFill>
              <a:schemeClr val="tx1"/>
            </a:solidFill>
          </a:ln>
        </p:spPr>
      </p:pic>
      <p:sp>
        <p:nvSpPr>
          <p:cNvPr id="22" name="Rectangle 21">
            <a:extLst>
              <a:ext uri="{FF2B5EF4-FFF2-40B4-BE49-F238E27FC236}">
                <a16:creationId xmlns:a16="http://schemas.microsoft.com/office/drawing/2014/main" id="{8E3A9690-33EF-42F5-81E3-FBA68731CD0A}"/>
              </a:ext>
            </a:extLst>
          </p:cNvPr>
          <p:cNvSpPr/>
          <p:nvPr/>
        </p:nvSpPr>
        <p:spPr>
          <a:xfrm>
            <a:off x="2426693" y="624807"/>
            <a:ext cx="1045029" cy="10119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A6870BDA-8086-210F-8B5D-CD92A553EBAA}"/>
              </a:ext>
            </a:extLst>
          </p:cNvPr>
          <p:cNvCxnSpPr/>
          <p:nvPr/>
        </p:nvCxnSpPr>
        <p:spPr>
          <a:xfrm>
            <a:off x="1140208" y="726003"/>
            <a:ext cx="150035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DCA5C2F-9992-39B7-1D42-E8BA6DE9A886}"/>
              </a:ext>
            </a:extLst>
          </p:cNvPr>
          <p:cNvCxnSpPr/>
          <p:nvPr/>
        </p:nvCxnSpPr>
        <p:spPr>
          <a:xfrm>
            <a:off x="1140208" y="5523722"/>
            <a:ext cx="270400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Left Bracket 6">
            <a:extLst>
              <a:ext uri="{FF2B5EF4-FFF2-40B4-BE49-F238E27FC236}">
                <a16:creationId xmlns:a16="http://schemas.microsoft.com/office/drawing/2014/main" id="{D9BDC7A6-7BB3-F317-B773-89D1A0E178F5}"/>
              </a:ext>
            </a:extLst>
          </p:cNvPr>
          <p:cNvSpPr/>
          <p:nvPr/>
        </p:nvSpPr>
        <p:spPr>
          <a:xfrm>
            <a:off x="1474237" y="4525347"/>
            <a:ext cx="233265" cy="653142"/>
          </a:xfrm>
          <a:prstGeom prst="leftBracket">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15" name="Group 14">
            <a:extLst>
              <a:ext uri="{FF2B5EF4-FFF2-40B4-BE49-F238E27FC236}">
                <a16:creationId xmlns:a16="http://schemas.microsoft.com/office/drawing/2014/main" id="{AA6EC7FB-F805-9F44-B9D5-018F38B8183D}"/>
              </a:ext>
            </a:extLst>
          </p:cNvPr>
          <p:cNvGrpSpPr/>
          <p:nvPr/>
        </p:nvGrpSpPr>
        <p:grpSpPr>
          <a:xfrm>
            <a:off x="1073450" y="0"/>
            <a:ext cx="10026438" cy="6858000"/>
            <a:chOff x="1073450" y="0"/>
            <a:chExt cx="10026438" cy="6858000"/>
          </a:xfrm>
        </p:grpSpPr>
        <p:pic>
          <p:nvPicPr>
            <p:cNvPr id="8" name="Picture 7" descr="A screenshot of a computer&#10;&#10;AI-generated content may be incorrect.">
              <a:extLst>
                <a:ext uri="{FF2B5EF4-FFF2-40B4-BE49-F238E27FC236}">
                  <a16:creationId xmlns:a16="http://schemas.microsoft.com/office/drawing/2014/main" id="{49D02845-120E-7CE9-5FD5-29C306BCC4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450" y="0"/>
              <a:ext cx="10026438" cy="6858000"/>
            </a:xfrm>
            <a:prstGeom prst="rect">
              <a:avLst/>
            </a:prstGeom>
            <a:ln>
              <a:solidFill>
                <a:schemeClr val="tx1"/>
              </a:solidFill>
            </a:ln>
          </p:spPr>
        </p:pic>
        <p:sp>
          <p:nvSpPr>
            <p:cNvPr id="9" name="Rectangle 8">
              <a:extLst>
                <a:ext uri="{FF2B5EF4-FFF2-40B4-BE49-F238E27FC236}">
                  <a16:creationId xmlns:a16="http://schemas.microsoft.com/office/drawing/2014/main" id="{C2ED9B35-1EF6-EA9B-72B5-D69CF07E0FA5}"/>
                </a:ext>
              </a:extLst>
            </p:cNvPr>
            <p:cNvSpPr/>
            <p:nvPr/>
          </p:nvSpPr>
          <p:spPr>
            <a:xfrm>
              <a:off x="2417362" y="624807"/>
              <a:ext cx="1045029" cy="10119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C135E657-F105-1D40-3027-D1644CDBBC20}"/>
                </a:ext>
              </a:extLst>
            </p:cNvPr>
            <p:cNvCxnSpPr/>
            <p:nvPr/>
          </p:nvCxnSpPr>
          <p:spPr>
            <a:xfrm>
              <a:off x="1130877" y="726003"/>
              <a:ext cx="150035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1AE5E9B-DE44-3041-501C-99269D7DDF98}"/>
                </a:ext>
              </a:extLst>
            </p:cNvPr>
            <p:cNvCxnSpPr/>
            <p:nvPr/>
          </p:nvCxnSpPr>
          <p:spPr>
            <a:xfrm>
              <a:off x="1130877" y="5523722"/>
              <a:ext cx="270400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4" name="Left Bracket 13">
              <a:extLst>
                <a:ext uri="{FF2B5EF4-FFF2-40B4-BE49-F238E27FC236}">
                  <a16:creationId xmlns:a16="http://schemas.microsoft.com/office/drawing/2014/main" id="{E4BF7B95-F296-C1BC-A9D8-CA19AF951A3A}"/>
                </a:ext>
              </a:extLst>
            </p:cNvPr>
            <p:cNvSpPr/>
            <p:nvPr/>
          </p:nvSpPr>
          <p:spPr>
            <a:xfrm>
              <a:off x="1464906" y="4525347"/>
              <a:ext cx="233265" cy="653142"/>
            </a:xfrm>
            <a:prstGeom prst="leftBracket">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729609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5F5E7-7F91-2E8A-BED1-1A6E811F775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352FFF1-F8B5-43B9-8AED-45DC028D1514}"/>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pSp>
        <p:nvGrpSpPr>
          <p:cNvPr id="11" name="Group 10">
            <a:extLst>
              <a:ext uri="{FF2B5EF4-FFF2-40B4-BE49-F238E27FC236}">
                <a16:creationId xmlns:a16="http://schemas.microsoft.com/office/drawing/2014/main" id="{7D92F53D-356E-16EE-5280-B97E7DB3D309}"/>
              </a:ext>
            </a:extLst>
          </p:cNvPr>
          <p:cNvGrpSpPr/>
          <p:nvPr/>
        </p:nvGrpSpPr>
        <p:grpSpPr>
          <a:xfrm>
            <a:off x="827370" y="0"/>
            <a:ext cx="10537260" cy="6858000"/>
            <a:chOff x="827370" y="0"/>
            <a:chExt cx="10537260" cy="6858000"/>
          </a:xfrm>
        </p:grpSpPr>
        <p:pic>
          <p:nvPicPr>
            <p:cNvPr id="3" name="Picture 2" descr="A screenshot of a computer screen&#10;&#10;AI-generated content may be incorrect.">
              <a:extLst>
                <a:ext uri="{FF2B5EF4-FFF2-40B4-BE49-F238E27FC236}">
                  <a16:creationId xmlns:a16="http://schemas.microsoft.com/office/drawing/2014/main" id="{54D31448-EA41-8460-65E2-7C907F7DCE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370" y="0"/>
              <a:ext cx="10537260" cy="6858000"/>
            </a:xfrm>
            <a:prstGeom prst="rect">
              <a:avLst/>
            </a:prstGeom>
          </p:spPr>
        </p:pic>
        <p:cxnSp>
          <p:nvCxnSpPr>
            <p:cNvPr id="6" name="Straight Connector 5">
              <a:extLst>
                <a:ext uri="{FF2B5EF4-FFF2-40B4-BE49-F238E27FC236}">
                  <a16:creationId xmlns:a16="http://schemas.microsoft.com/office/drawing/2014/main" id="{2ED6A5DF-16C8-7502-2CC6-B20452C00071}"/>
                </a:ext>
              </a:extLst>
            </p:cNvPr>
            <p:cNvCxnSpPr/>
            <p:nvPr/>
          </p:nvCxnSpPr>
          <p:spPr>
            <a:xfrm>
              <a:off x="979714" y="3676261"/>
              <a:ext cx="27432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A582A4C-2C0D-E51B-8816-70D954026C20}"/>
                </a:ext>
              </a:extLst>
            </p:cNvPr>
            <p:cNvCxnSpPr/>
            <p:nvPr/>
          </p:nvCxnSpPr>
          <p:spPr>
            <a:xfrm>
              <a:off x="895739" y="2705878"/>
              <a:ext cx="4460032"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463754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A1F79-42FA-F256-A554-6B3D999C8C15}"/>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DDD9581B-9D16-4993-FA5D-30E42FB06F75}"/>
              </a:ext>
            </a:extLst>
          </p:cNvPr>
          <p:cNvSpPr txBox="1"/>
          <p:nvPr/>
        </p:nvSpPr>
        <p:spPr>
          <a:xfrm>
            <a:off x="530942" y="214605"/>
            <a:ext cx="11130116" cy="5909310"/>
          </a:xfrm>
          <a:prstGeom prst="rect">
            <a:avLst/>
          </a:prstGeom>
          <a:noFill/>
        </p:spPr>
        <p:txBody>
          <a:bodyPr wrap="square" rtlCol="0">
            <a:spAutoFit/>
          </a:bodyPr>
          <a:lstStyle/>
          <a:p>
            <a:pPr>
              <a:buNone/>
            </a:pPr>
            <a:r>
              <a:rPr lang="en-US" dirty="0"/>
              <a:t>Under the </a:t>
            </a:r>
            <a:r>
              <a:rPr lang="en-US" b="1" dirty="0"/>
              <a:t>Authentication Results</a:t>
            </a:r>
            <a:r>
              <a:rPr lang="en-US" dirty="0"/>
              <a:t>, SPF, DKIM, and DMARC all passed, and the sending domain showed as </a:t>
            </a:r>
            <a:r>
              <a:rPr lang="en-US" b="1" dirty="0"/>
              <a:t>gmail.com</a:t>
            </a:r>
            <a:r>
              <a:rPr lang="en-US" dirty="0"/>
              <a:t>, which is a legitimate and trusted domain. However, deeper inspection revealed a major discrepancy:</a:t>
            </a:r>
          </a:p>
          <a:p>
            <a:pPr>
              <a:buNone/>
            </a:pPr>
            <a:endParaRPr lang="en-US" dirty="0"/>
          </a:p>
          <a:p>
            <a:pPr>
              <a:buFont typeface="Arial" panose="020B0604020202020204" pitchFamily="34" charset="0"/>
              <a:buChar char="•"/>
            </a:pPr>
            <a:r>
              <a:rPr lang="en-US" b="1" dirty="0"/>
              <a:t>From:</a:t>
            </a:r>
            <a:r>
              <a:rPr lang="en-US" dirty="0"/>
              <a:t> “Paradigm Therapeutics” ms7148160@gmail.com</a:t>
            </a:r>
          </a:p>
          <a:p>
            <a:pPr>
              <a:buFont typeface="Arial" panose="020B0604020202020204" pitchFamily="34" charset="0"/>
              <a:buChar char="•"/>
            </a:pPr>
            <a:r>
              <a:rPr lang="en-US" b="1" dirty="0"/>
              <a:t>Return-Path:</a:t>
            </a:r>
            <a:r>
              <a:rPr lang="en-US" dirty="0"/>
              <a:t> </a:t>
            </a:r>
            <a:r>
              <a:rPr lang="en-US" dirty="0">
                <a:hlinkClick r:id="rId3"/>
              </a:rPr>
              <a:t>ms7148160@gmail.com</a:t>
            </a:r>
            <a:endParaRPr lang="en-US" dirty="0"/>
          </a:p>
          <a:p>
            <a:pPr>
              <a:buNone/>
            </a:pPr>
            <a:r>
              <a:rPr lang="en-US" dirty="0"/>
              <a:t>This indicates that although the message passed authentication checks, the sender </a:t>
            </a:r>
            <a:r>
              <a:rPr lang="en-US" b="1" dirty="0"/>
              <a:t>did not</a:t>
            </a:r>
            <a:r>
              <a:rPr lang="en-US" dirty="0"/>
              <a:t> originate from Paradigm Therapeutics but from a personal Gmail account—confirming impersonation.</a:t>
            </a:r>
          </a:p>
          <a:p>
            <a:pPr>
              <a:buNone/>
            </a:pPr>
            <a:endParaRPr lang="en-US" dirty="0"/>
          </a:p>
          <a:p>
            <a:pPr>
              <a:buNone/>
            </a:pPr>
            <a:r>
              <a:rPr lang="en-US" dirty="0"/>
              <a:t>The sending server was identified as </a:t>
            </a:r>
            <a:r>
              <a:rPr lang="en-US" b="1" dirty="0"/>
              <a:t>mail-sor-f41</a:t>
            </a:r>
            <a:r>
              <a:rPr lang="en-US" dirty="0"/>
              <a:t>, a legitimate Google mail server. Attackers frequently exploit trusted email service providers like Google to send phishing emails, allowing them to bypass initial filtering mechanisms and appear legitimate.</a:t>
            </a:r>
          </a:p>
          <a:p>
            <a:pPr>
              <a:buNone/>
            </a:pPr>
            <a:endParaRPr lang="en-US" dirty="0"/>
          </a:p>
          <a:p>
            <a:pPr>
              <a:buNone/>
            </a:pPr>
            <a:r>
              <a:rPr lang="en-US" dirty="0"/>
              <a:t>I also ran the sender IP address through </a:t>
            </a:r>
            <a:r>
              <a:rPr lang="en-US" b="1" dirty="0" err="1"/>
              <a:t>AbuseIPDB</a:t>
            </a:r>
            <a:r>
              <a:rPr lang="en-US" dirty="0"/>
              <a:t>,(diagram shown below) which showed:</a:t>
            </a:r>
          </a:p>
          <a:p>
            <a:pPr>
              <a:buNone/>
            </a:pPr>
            <a:endParaRPr lang="en-US" dirty="0"/>
          </a:p>
          <a:p>
            <a:pPr>
              <a:buFont typeface="Arial" panose="020B0604020202020204" pitchFamily="34" charset="0"/>
              <a:buChar char="•"/>
            </a:pPr>
            <a:r>
              <a:rPr lang="en-US" dirty="0"/>
              <a:t>The IP had been reported </a:t>
            </a:r>
            <a:r>
              <a:rPr lang="en-US" b="1" dirty="0"/>
              <a:t>265 times</a:t>
            </a:r>
            <a:endParaRPr lang="en-US" dirty="0"/>
          </a:p>
          <a:p>
            <a:pPr>
              <a:buFont typeface="Arial" panose="020B0604020202020204" pitchFamily="34" charset="0"/>
              <a:buChar char="•"/>
            </a:pPr>
            <a:r>
              <a:rPr lang="en-US" dirty="0"/>
              <a:t>Geographic location: India (ISP location, not necessarily the attacker)</a:t>
            </a:r>
          </a:p>
          <a:p>
            <a:pPr>
              <a:buFont typeface="Arial" panose="020B0604020202020204" pitchFamily="34" charset="0"/>
              <a:buChar char="•"/>
            </a:pPr>
            <a:r>
              <a:rPr lang="en-US" dirty="0"/>
              <a:t>This suggests historical abuse or suspicious activity associated with the IP.</a:t>
            </a:r>
          </a:p>
          <a:p>
            <a:endParaRPr lang="en-US" dirty="0"/>
          </a:p>
          <a:p>
            <a:pPr>
              <a:buNone/>
            </a:pPr>
            <a:r>
              <a:rPr lang="en-US" dirty="0"/>
              <a:t>Another red flag identified was:</a:t>
            </a:r>
          </a:p>
          <a:p>
            <a:pPr>
              <a:buFont typeface="Arial" panose="020B0604020202020204" pitchFamily="34" charset="0"/>
              <a:buChar char="•"/>
            </a:pPr>
            <a:r>
              <a:rPr lang="en-US" dirty="0"/>
              <a:t>The email was sent using </a:t>
            </a:r>
            <a:r>
              <a:rPr lang="en-US" b="1" dirty="0"/>
              <a:t>“To: undisclosed recipients”</a:t>
            </a:r>
            <a:r>
              <a:rPr lang="en-US" dirty="0"/>
              <a:t>, which is often used during bulk phishing campaigns to prevent recipients from seeing each other.</a:t>
            </a:r>
          </a:p>
        </p:txBody>
      </p:sp>
    </p:spTree>
    <p:extLst>
      <p:ext uri="{BB962C8B-B14F-4D97-AF65-F5344CB8AC3E}">
        <p14:creationId xmlns:p14="http://schemas.microsoft.com/office/powerpoint/2010/main" val="2534475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E00EA-DE98-A298-BE21-CCE166E19D2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673AFC0-0205-C5FF-3A56-4CC454044211}"/>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pSp>
        <p:nvGrpSpPr>
          <p:cNvPr id="3" name="Group 2">
            <a:extLst>
              <a:ext uri="{FF2B5EF4-FFF2-40B4-BE49-F238E27FC236}">
                <a16:creationId xmlns:a16="http://schemas.microsoft.com/office/drawing/2014/main" id="{9458BAFC-FDD6-6468-6B4C-B61721AE1416}"/>
              </a:ext>
            </a:extLst>
          </p:cNvPr>
          <p:cNvGrpSpPr/>
          <p:nvPr/>
        </p:nvGrpSpPr>
        <p:grpSpPr>
          <a:xfrm>
            <a:off x="1497259" y="326571"/>
            <a:ext cx="9197482" cy="5635690"/>
            <a:chOff x="1497259" y="326571"/>
            <a:chExt cx="9197482" cy="5635690"/>
          </a:xfrm>
        </p:grpSpPr>
        <p:pic>
          <p:nvPicPr>
            <p:cNvPr id="8" name="Picture 7" descr="A screenshot of a computer&#10;&#10;AI-generated content may be incorrect.">
              <a:extLst>
                <a:ext uri="{FF2B5EF4-FFF2-40B4-BE49-F238E27FC236}">
                  <a16:creationId xmlns:a16="http://schemas.microsoft.com/office/drawing/2014/main" id="{7A18EA85-986A-1690-E1BF-3800A31137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7259" y="326571"/>
              <a:ext cx="9197482" cy="5635690"/>
            </a:xfrm>
            <a:prstGeom prst="rect">
              <a:avLst/>
            </a:prstGeom>
          </p:spPr>
        </p:pic>
        <p:sp>
          <p:nvSpPr>
            <p:cNvPr id="2" name="Rectangle 1">
              <a:extLst>
                <a:ext uri="{FF2B5EF4-FFF2-40B4-BE49-F238E27FC236}">
                  <a16:creationId xmlns:a16="http://schemas.microsoft.com/office/drawing/2014/main" id="{8A0DFD54-F4D9-8EE5-BDD3-70B588ECD175}"/>
                </a:ext>
              </a:extLst>
            </p:cNvPr>
            <p:cNvSpPr/>
            <p:nvPr/>
          </p:nvSpPr>
          <p:spPr>
            <a:xfrm>
              <a:off x="1754155" y="2332653"/>
              <a:ext cx="5178490" cy="116632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208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39A41-CA7C-6D7D-D580-8074FC3D3049}"/>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119A1725-CC0B-1AD6-30F0-0F62DE571572}"/>
              </a:ext>
            </a:extLst>
          </p:cNvPr>
          <p:cNvSpPr txBox="1"/>
          <p:nvPr/>
        </p:nvSpPr>
        <p:spPr>
          <a:xfrm>
            <a:off x="792200" y="1859339"/>
            <a:ext cx="11130116" cy="3139321"/>
          </a:xfrm>
          <a:prstGeom prst="rect">
            <a:avLst/>
          </a:prstGeom>
          <a:noFill/>
        </p:spPr>
        <p:txBody>
          <a:bodyPr wrap="square" rtlCol="0">
            <a:spAutoFit/>
          </a:bodyPr>
          <a:lstStyle/>
          <a:p>
            <a:pPr>
              <a:buNone/>
            </a:pPr>
            <a:r>
              <a:rPr lang="en-US" dirty="0"/>
              <a:t>I used a free automated phishing detection tool called </a:t>
            </a:r>
            <a:r>
              <a:rPr lang="en-US" b="1" dirty="0"/>
              <a:t>Sublime Security</a:t>
            </a:r>
            <a:r>
              <a:rPr lang="en-US" dirty="0"/>
              <a:t> to analyze the email.</a:t>
            </a:r>
          </a:p>
          <a:p>
            <a:pPr>
              <a:buNone/>
            </a:pPr>
            <a:endParaRPr lang="en-US" dirty="0"/>
          </a:p>
          <a:p>
            <a:pPr>
              <a:buNone/>
            </a:pPr>
            <a:r>
              <a:rPr lang="en-US" dirty="0"/>
              <a:t>The tool immediately flagged multiple anomalies including:</a:t>
            </a:r>
          </a:p>
          <a:p>
            <a:pPr>
              <a:buNone/>
            </a:pPr>
            <a:endParaRPr lang="en-US" dirty="0"/>
          </a:p>
          <a:p>
            <a:pPr>
              <a:buFont typeface="Arial" panose="020B0604020202020204" pitchFamily="34" charset="0"/>
              <a:buChar char="•"/>
            </a:pPr>
            <a:r>
              <a:rPr lang="en-US" dirty="0"/>
              <a:t>Sender impersonation</a:t>
            </a:r>
          </a:p>
          <a:p>
            <a:pPr>
              <a:buFont typeface="Arial" panose="020B0604020202020204" pitchFamily="34" charset="0"/>
              <a:buChar char="•"/>
            </a:pPr>
            <a:r>
              <a:rPr lang="en-US" dirty="0"/>
              <a:t>Header inconsistencies</a:t>
            </a:r>
          </a:p>
          <a:p>
            <a:pPr>
              <a:buFont typeface="Arial" panose="020B0604020202020204" pitchFamily="34" charset="0"/>
              <a:buChar char="•"/>
            </a:pPr>
            <a:r>
              <a:rPr lang="en-US" dirty="0"/>
              <a:t>Domain reputation issues</a:t>
            </a:r>
          </a:p>
          <a:p>
            <a:pPr>
              <a:buFont typeface="Arial" panose="020B0604020202020204" pitchFamily="34" charset="0"/>
              <a:buChar char="•"/>
            </a:pPr>
            <a:r>
              <a:rPr lang="en-US" dirty="0"/>
              <a:t>Suspicious message patterns</a:t>
            </a:r>
          </a:p>
          <a:p>
            <a:endParaRPr lang="en-US" dirty="0"/>
          </a:p>
          <a:p>
            <a:pPr>
              <a:buNone/>
            </a:pPr>
            <a:r>
              <a:rPr lang="en-US" dirty="0"/>
              <a:t>The results aligned with my manual analysis and confirmed that the email was malicious. The screenshots below show how the tool automatically detected these indicators.</a:t>
            </a:r>
          </a:p>
        </p:txBody>
      </p:sp>
      <p:sp>
        <p:nvSpPr>
          <p:cNvPr id="2" name="Rectangle 1">
            <a:extLst>
              <a:ext uri="{FF2B5EF4-FFF2-40B4-BE49-F238E27FC236}">
                <a16:creationId xmlns:a16="http://schemas.microsoft.com/office/drawing/2014/main" id="{AD73450A-7689-74FC-3E6C-6BB308EAA5BB}"/>
              </a:ext>
              <a:ext uri="{C183D7F6-B498-43B3-948B-1728B52AA6E4}">
                <adec:decorative xmlns:adec="http://schemas.microsoft.com/office/drawing/2017/decorative" val="1"/>
              </a:ext>
            </a:extLst>
          </p:cNvPr>
          <p:cNvSpPr/>
          <p:nvPr/>
        </p:nvSpPr>
        <p:spPr>
          <a:xfrm>
            <a:off x="1221658" y="528810"/>
            <a:ext cx="9748684" cy="646331"/>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2400" dirty="0"/>
              <a:t>LEVERAGING EMAIL SECURITY/FILTERING TOOLS</a:t>
            </a:r>
          </a:p>
        </p:txBody>
      </p:sp>
    </p:spTree>
    <p:extLst>
      <p:ext uri="{BB962C8B-B14F-4D97-AF65-F5344CB8AC3E}">
        <p14:creationId xmlns:p14="http://schemas.microsoft.com/office/powerpoint/2010/main" val="1431834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EF5E5-FE65-9550-4EF0-BBCA6D26226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36D33F8-0DCA-A6A3-38D3-3D296369E86E}"/>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pSp>
        <p:nvGrpSpPr>
          <p:cNvPr id="6" name="Group 5">
            <a:extLst>
              <a:ext uri="{FF2B5EF4-FFF2-40B4-BE49-F238E27FC236}">
                <a16:creationId xmlns:a16="http://schemas.microsoft.com/office/drawing/2014/main" id="{BDD026B2-7DB8-120D-6C7C-C38EC34CF6FB}"/>
              </a:ext>
            </a:extLst>
          </p:cNvPr>
          <p:cNvGrpSpPr/>
          <p:nvPr/>
        </p:nvGrpSpPr>
        <p:grpSpPr>
          <a:xfrm>
            <a:off x="942391" y="563716"/>
            <a:ext cx="10039739" cy="5180061"/>
            <a:chOff x="942391" y="563716"/>
            <a:chExt cx="10039739" cy="5180061"/>
          </a:xfrm>
        </p:grpSpPr>
        <p:pic>
          <p:nvPicPr>
            <p:cNvPr id="12" name="Picture 11" descr="A screenshot of a computer&#10;&#10;AI-generated content may be incorrect.">
              <a:extLst>
                <a:ext uri="{FF2B5EF4-FFF2-40B4-BE49-F238E27FC236}">
                  <a16:creationId xmlns:a16="http://schemas.microsoft.com/office/drawing/2014/main" id="{DDAAEFEF-3ABE-A8B0-A0DE-248B1F9B9B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391" y="563716"/>
              <a:ext cx="10039739" cy="5180061"/>
            </a:xfrm>
            <a:prstGeom prst="rect">
              <a:avLst/>
            </a:prstGeom>
          </p:spPr>
        </p:pic>
        <p:sp>
          <p:nvSpPr>
            <p:cNvPr id="2" name="Rectangle 1">
              <a:extLst>
                <a:ext uri="{FF2B5EF4-FFF2-40B4-BE49-F238E27FC236}">
                  <a16:creationId xmlns:a16="http://schemas.microsoft.com/office/drawing/2014/main" id="{507F995F-7DD3-2D62-CFBE-B016DC98C728}"/>
                </a:ext>
              </a:extLst>
            </p:cNvPr>
            <p:cNvSpPr/>
            <p:nvPr/>
          </p:nvSpPr>
          <p:spPr>
            <a:xfrm>
              <a:off x="3200400" y="2360645"/>
              <a:ext cx="2509935" cy="7931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D77D658-6585-4EF0-5CF3-FA670D994328}"/>
                </a:ext>
              </a:extLst>
            </p:cNvPr>
            <p:cNvSpPr/>
            <p:nvPr/>
          </p:nvSpPr>
          <p:spPr>
            <a:xfrm>
              <a:off x="5850294" y="2239347"/>
              <a:ext cx="2211355" cy="9144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AA9EEFE-D0B8-2302-500D-609BD0D5152A}"/>
                </a:ext>
              </a:extLst>
            </p:cNvPr>
            <p:cNvSpPr/>
            <p:nvPr/>
          </p:nvSpPr>
          <p:spPr>
            <a:xfrm>
              <a:off x="8304245" y="2360645"/>
              <a:ext cx="2108718" cy="9144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43811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rrow: Left-Right 13">
            <a:extLst>
              <a:ext uri="{FF2B5EF4-FFF2-40B4-BE49-F238E27FC236}">
                <a16:creationId xmlns:a16="http://schemas.microsoft.com/office/drawing/2014/main" id="{E411A1E1-1C56-A2CD-8383-8F38A2184724}"/>
              </a:ext>
            </a:extLst>
          </p:cNvPr>
          <p:cNvSpPr/>
          <p:nvPr/>
        </p:nvSpPr>
        <p:spPr>
          <a:xfrm>
            <a:off x="5906278" y="1492898"/>
            <a:ext cx="1296955" cy="10263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Left-Right 15">
            <a:extLst>
              <a:ext uri="{FF2B5EF4-FFF2-40B4-BE49-F238E27FC236}">
                <a16:creationId xmlns:a16="http://schemas.microsoft.com/office/drawing/2014/main" id="{3E02A66C-E646-EBFE-B24E-E944169D4F12}"/>
              </a:ext>
            </a:extLst>
          </p:cNvPr>
          <p:cNvSpPr/>
          <p:nvPr/>
        </p:nvSpPr>
        <p:spPr>
          <a:xfrm>
            <a:off x="5906278" y="1887894"/>
            <a:ext cx="1296955" cy="10263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Left-Right 16">
            <a:extLst>
              <a:ext uri="{FF2B5EF4-FFF2-40B4-BE49-F238E27FC236}">
                <a16:creationId xmlns:a16="http://schemas.microsoft.com/office/drawing/2014/main" id="{B59DA5AA-F4AE-8C16-C6B2-EBA584E79B62}"/>
              </a:ext>
            </a:extLst>
          </p:cNvPr>
          <p:cNvSpPr/>
          <p:nvPr/>
        </p:nvSpPr>
        <p:spPr>
          <a:xfrm>
            <a:off x="5906277" y="2180253"/>
            <a:ext cx="1296955" cy="10263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Left-Right 17">
            <a:extLst>
              <a:ext uri="{FF2B5EF4-FFF2-40B4-BE49-F238E27FC236}">
                <a16:creationId xmlns:a16="http://schemas.microsoft.com/office/drawing/2014/main" id="{7BDD35EF-3F1F-FB3E-5F0E-F404DF17C47B}"/>
              </a:ext>
            </a:extLst>
          </p:cNvPr>
          <p:cNvSpPr/>
          <p:nvPr/>
        </p:nvSpPr>
        <p:spPr>
          <a:xfrm>
            <a:off x="5906277" y="2523930"/>
            <a:ext cx="1296955" cy="10263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Left-Right 18">
            <a:extLst>
              <a:ext uri="{FF2B5EF4-FFF2-40B4-BE49-F238E27FC236}">
                <a16:creationId xmlns:a16="http://schemas.microsoft.com/office/drawing/2014/main" id="{640FAD95-5609-0F17-2B4D-66B68DCF14A3}"/>
              </a:ext>
            </a:extLst>
          </p:cNvPr>
          <p:cNvSpPr/>
          <p:nvPr/>
        </p:nvSpPr>
        <p:spPr>
          <a:xfrm>
            <a:off x="5906277" y="2898132"/>
            <a:ext cx="1296955" cy="10263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C11DA52D-CA4E-2BE3-F93B-1EFEEAB9FA7B}"/>
              </a:ext>
            </a:extLst>
          </p:cNvPr>
          <p:cNvGrpSpPr/>
          <p:nvPr/>
        </p:nvGrpSpPr>
        <p:grpSpPr>
          <a:xfrm>
            <a:off x="273856" y="830423"/>
            <a:ext cx="11743973" cy="4979836"/>
            <a:chOff x="273856" y="830423"/>
            <a:chExt cx="11743973" cy="4979836"/>
          </a:xfrm>
        </p:grpSpPr>
        <p:pic>
          <p:nvPicPr>
            <p:cNvPr id="11" name="Picture 10" descr="A screenshot of a computer&#10;&#10;AI-generated content may be incorrect.">
              <a:extLst>
                <a:ext uri="{FF2B5EF4-FFF2-40B4-BE49-F238E27FC236}">
                  <a16:creationId xmlns:a16="http://schemas.microsoft.com/office/drawing/2014/main" id="{2FB058E0-19BA-0507-8AA5-DF95324E0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856" y="830423"/>
              <a:ext cx="11569644" cy="4979836"/>
            </a:xfrm>
            <a:prstGeom prst="rect">
              <a:avLst/>
            </a:prstGeom>
          </p:spPr>
        </p:pic>
        <p:sp>
          <p:nvSpPr>
            <p:cNvPr id="2" name="Rectangle 1">
              <a:extLst>
                <a:ext uri="{FF2B5EF4-FFF2-40B4-BE49-F238E27FC236}">
                  <a16:creationId xmlns:a16="http://schemas.microsoft.com/office/drawing/2014/main" id="{E1BE87AE-06D9-6D73-09CF-93279F751238}"/>
                </a:ext>
              </a:extLst>
            </p:cNvPr>
            <p:cNvSpPr/>
            <p:nvPr/>
          </p:nvSpPr>
          <p:spPr>
            <a:xfrm>
              <a:off x="2369976" y="979714"/>
              <a:ext cx="9647853" cy="29857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49597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70280-4608-5D23-804C-95BE1BFCA25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6C6822C-69D5-A4D9-9449-7A34D7290C0C}"/>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Rectangle 6">
            <a:extLst>
              <a:ext uri="{FF2B5EF4-FFF2-40B4-BE49-F238E27FC236}">
                <a16:creationId xmlns:a16="http://schemas.microsoft.com/office/drawing/2014/main" id="{4439543E-2C04-7202-D488-83AD9D69AFE5}"/>
              </a:ext>
              <a:ext uri="{C183D7F6-B498-43B3-948B-1728B52AA6E4}">
                <adec:decorative xmlns:adec="http://schemas.microsoft.com/office/drawing/2017/decorative" val="1"/>
              </a:ext>
            </a:extLst>
          </p:cNvPr>
          <p:cNvSpPr/>
          <p:nvPr/>
        </p:nvSpPr>
        <p:spPr>
          <a:xfrm>
            <a:off x="1054359" y="220900"/>
            <a:ext cx="9748684" cy="646331"/>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2400" dirty="0"/>
              <a:t>REMEDIATION STRATEGIES</a:t>
            </a:r>
          </a:p>
        </p:txBody>
      </p:sp>
      <p:sp>
        <p:nvSpPr>
          <p:cNvPr id="2" name="TextBox 1">
            <a:extLst>
              <a:ext uri="{FF2B5EF4-FFF2-40B4-BE49-F238E27FC236}">
                <a16:creationId xmlns:a16="http://schemas.microsoft.com/office/drawing/2014/main" id="{E91CBF5D-1977-33F0-26AF-318008551AE4}"/>
              </a:ext>
            </a:extLst>
          </p:cNvPr>
          <p:cNvSpPr txBox="1"/>
          <p:nvPr/>
        </p:nvSpPr>
        <p:spPr>
          <a:xfrm>
            <a:off x="989045" y="1076379"/>
            <a:ext cx="9748684" cy="5632311"/>
          </a:xfrm>
          <a:prstGeom prst="rect">
            <a:avLst/>
          </a:prstGeom>
          <a:noFill/>
        </p:spPr>
        <p:txBody>
          <a:bodyPr wrap="square" rtlCol="0">
            <a:spAutoFit/>
          </a:bodyPr>
          <a:lstStyle/>
          <a:p>
            <a:pPr>
              <a:buNone/>
            </a:pPr>
            <a:r>
              <a:rPr lang="en-US" dirty="0"/>
              <a:t>Since this incident involved my personal email account, the immediate actions I took included:</a:t>
            </a:r>
          </a:p>
          <a:p>
            <a:pPr>
              <a:buNone/>
            </a:pPr>
            <a:endParaRPr lang="en-US" dirty="0"/>
          </a:p>
          <a:p>
            <a:pPr>
              <a:buFont typeface="Arial" panose="020B0604020202020204" pitchFamily="34" charset="0"/>
              <a:buChar char="•"/>
            </a:pPr>
            <a:r>
              <a:rPr lang="en-US" dirty="0"/>
              <a:t>Blocking the sender</a:t>
            </a:r>
          </a:p>
          <a:p>
            <a:pPr>
              <a:buFont typeface="Arial" panose="020B0604020202020204" pitchFamily="34" charset="0"/>
              <a:buChar char="•"/>
            </a:pPr>
            <a:r>
              <a:rPr lang="en-US" dirty="0"/>
              <a:t>Reporting the message as phishing/spam</a:t>
            </a:r>
          </a:p>
          <a:p>
            <a:pPr>
              <a:buFont typeface="Arial" panose="020B0604020202020204" pitchFamily="34" charset="0"/>
              <a:buChar char="•"/>
            </a:pPr>
            <a:r>
              <a:rPr lang="en-US" dirty="0"/>
              <a:t>Reviewing and tightening security settings</a:t>
            </a:r>
          </a:p>
          <a:p>
            <a:endParaRPr lang="en-US" dirty="0"/>
          </a:p>
          <a:p>
            <a:pPr>
              <a:buNone/>
            </a:pPr>
            <a:r>
              <a:rPr lang="en-US" dirty="0"/>
              <a:t>If this incident had occurred within an organization, the recommended actions would include:</a:t>
            </a:r>
          </a:p>
          <a:p>
            <a:pPr>
              <a:buNone/>
            </a:pPr>
            <a:endParaRPr lang="en-US" dirty="0"/>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 Isolate the affected account(s) — force logout and revoke active sessions.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 Reset credentials and enable MFA for compromised accounts.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 Block malicious domains/IPs at the gateway and in web filters.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 Quarantine or delete similar emails across mailboxes (search by Message-ID / subject / sender).</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 Scan affected endpoints for malware and indicators of compromise.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Follow-up actions:</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Notify stakeholders and legal/compliance if PII was exposed.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Update blocklists and filtering rules.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Run a company-wide password reset if multiple accounts compromised.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Deliver a targeted awareness message to users about the specific phishing technique used.</a:t>
            </a:r>
          </a:p>
          <a:p>
            <a:endParaRPr lang="en-US" dirty="0"/>
          </a:p>
        </p:txBody>
      </p:sp>
    </p:spTree>
    <p:extLst>
      <p:ext uri="{BB962C8B-B14F-4D97-AF65-F5344CB8AC3E}">
        <p14:creationId xmlns:p14="http://schemas.microsoft.com/office/powerpoint/2010/main" val="1428216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2453951" y="164630"/>
            <a:ext cx="5875009" cy="1305601"/>
          </a:xfrm>
        </p:spPr>
        <p:txBody>
          <a:bodyPr/>
          <a:lstStyle/>
          <a:p>
            <a:r>
              <a:rPr lang="en-US" dirty="0"/>
              <a:t>CONCLUSION</a:t>
            </a:r>
          </a:p>
        </p:txBody>
      </p:sp>
      <p:sp>
        <p:nvSpPr>
          <p:cNvPr id="2" name="TextBox 1">
            <a:extLst>
              <a:ext uri="{FF2B5EF4-FFF2-40B4-BE49-F238E27FC236}">
                <a16:creationId xmlns:a16="http://schemas.microsoft.com/office/drawing/2014/main" id="{8245ED62-CB4C-64ED-B732-4B54D9ECEC2E}"/>
              </a:ext>
            </a:extLst>
          </p:cNvPr>
          <p:cNvSpPr txBox="1"/>
          <p:nvPr/>
        </p:nvSpPr>
        <p:spPr>
          <a:xfrm>
            <a:off x="1138335" y="1938935"/>
            <a:ext cx="10273003" cy="3416320"/>
          </a:xfrm>
          <a:prstGeom prst="rect">
            <a:avLst/>
          </a:prstGeom>
          <a:noFill/>
        </p:spPr>
        <p:txBody>
          <a:bodyPr wrap="square" rtlCol="0">
            <a:spAutoFit/>
          </a:bodyPr>
          <a:lstStyle/>
          <a:p>
            <a:r>
              <a:rPr lang="en-US" sz="2400" dirty="0">
                <a:solidFill>
                  <a:schemeClr val="bg1"/>
                </a:solidFill>
              </a:rPr>
              <a:t>This analysis confirms that phishing attacks today are sophisticated and often designed to appear legitimate. Although the email passed SPF, DKIM, and DMARC checks, deeper investigation exposed impersonation, suspicious routing, and malicious URLs. The attacker exploited a trusted email platform to bypass filters and increase delivery success. This case emphasizes that authentication alone does not guarantee legitimacy and highlights the importance of layered security controls, user awareness, and forensic analysis. Effective defense against phishing requires a combination of human vigilance, technical verification, and automated detection tools.</a:t>
            </a:r>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2.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Tech presentation</Template>
  <TotalTime>3149</TotalTime>
  <Words>1273</Words>
  <Application>Microsoft Office PowerPoint</Application>
  <PresentationFormat>Widescreen</PresentationFormat>
  <Paragraphs>120</Paragraphs>
  <Slides>19</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Calibri</vt:lpstr>
      <vt:lpstr>Calibri Light</vt:lpstr>
      <vt:lpstr>Wingdings</vt:lpstr>
      <vt:lpstr>Custom</vt:lpstr>
      <vt:lpstr>PHISHING EMAIL ANALYSIS</vt:lpstr>
      <vt:lpstr>Content</vt:lpstr>
      <vt:lpstr>What is phishing?</vt:lpstr>
      <vt:lpstr>Spear Phishing: Targeted emails crafted for specific individuals or roles (uses personal details).  Whaling: High-value target attacks (CEO/CFO) — often financially motivated.  Business Email Compromise (BEC): Fraudulent requests that appear to come from executives or vendors asking for fund transfers or confidential info.  Clone Phishing: A legitimate email is copied, modified with malicious links/attachments, then resent.  Credential Harvesting: Fake login pages used to capture usernames/passwords.  Malicious Attachments: Emails carrying weaponized docs or executables.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Elizabeth Sesebor</dc:creator>
  <cp:lastModifiedBy>Elizabeth Sesebor</cp:lastModifiedBy>
  <cp:revision>20</cp:revision>
  <dcterms:created xsi:type="dcterms:W3CDTF">2025-12-03T23:03:06Z</dcterms:created>
  <dcterms:modified xsi:type="dcterms:W3CDTF">2025-12-10T16:44:08Z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